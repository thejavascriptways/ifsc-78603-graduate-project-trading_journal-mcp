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fea9366f21438a" /><Relationship Type="http://schemas.openxmlformats.org/officeDocument/2006/relationships/extended-properties" Target="/docProps/app.xml" Id="R097b7c11945f4134" /><Relationship Type="http://schemas.openxmlformats.org/officeDocument/2006/relationships/officeDocument" Target="/ppt/presentation.xml" Id="R992628bcef6b4a53" /></Relationships>
</file>

<file path=ppt/presentation.xml><?xml version="1.0" encoding="utf-8"?>
<p:presentation xmlns:p="http://schemas.openxmlformats.org/presentationml/2006/main">
  <p:sldMasterIdLst>
    <p:sldMasterId xmlns:r="http://schemas.openxmlformats.org/officeDocument/2006/relationships" id="2147483648" r:id="Rb8fe50c471804346"/>
  </p:sldMasterIdLst>
  <p:notesMasterIdLst>
    <p:notesMasterId xmlns:r="http://schemas.openxmlformats.org/officeDocument/2006/relationships" r:id="R2a3bc4a6ad794763"/>
  </p:notesMasterIdLst>
  <p:sldIdLst>
    <p:sldId xmlns:r="http://schemas.openxmlformats.org/officeDocument/2006/relationships" id="256" r:id="R791a4044adfd4ce0"/>
    <p:sldId xmlns:r="http://schemas.openxmlformats.org/officeDocument/2006/relationships" id="257" r:id="Rdf57755dc8aa4eac"/>
    <p:sldId xmlns:r="http://schemas.openxmlformats.org/officeDocument/2006/relationships" id="258" r:id="R4a7bc611c7e6494e"/>
    <p:sldId xmlns:r="http://schemas.openxmlformats.org/officeDocument/2006/relationships" id="259" r:id="Rd9a24afcacf241b5"/>
    <p:sldId xmlns:r="http://schemas.openxmlformats.org/officeDocument/2006/relationships" id="260" r:id="R06364e53e2674bea"/>
    <p:sldId xmlns:r="http://schemas.openxmlformats.org/officeDocument/2006/relationships" id="261" r:id="R452341a0ef654bb3"/>
    <p:sldId xmlns:r="http://schemas.openxmlformats.org/officeDocument/2006/relationships" id="262" r:id="R2b8d4c798ac248ac"/>
    <p:sldId xmlns:r="http://schemas.openxmlformats.org/officeDocument/2006/relationships" id="263" r:id="R2009405a51944c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cbab031f59403a" /><Relationship Type="http://schemas.openxmlformats.org/officeDocument/2006/relationships/slideMaster" Target="/ppt/slideMasters/slideMaster1.xml" Id="Rb8fe50c471804346" /><Relationship Type="http://schemas.openxmlformats.org/officeDocument/2006/relationships/notesMaster" Target="/ppt/notesMasters/notesMaster1.xml" Id="R2a3bc4a6ad794763" /><Relationship Type="http://schemas.openxmlformats.org/officeDocument/2006/relationships/presProps" Target="/ppt/presProps.xml" Id="R734c2993e79f460d" /><Relationship Type="http://schemas.openxmlformats.org/officeDocument/2006/relationships/tableStyles" Target="/ppt/tableStyles.xml" Id="Rd886f2c0764e408d" /><Relationship Type="http://schemas.openxmlformats.org/officeDocument/2006/relationships/slide" Target="/ppt/slides/slide1.xml" Id="R791a4044adfd4ce0" /><Relationship Type="http://schemas.openxmlformats.org/officeDocument/2006/relationships/slide" Target="/ppt/slides/slide2.xml" Id="Rdf57755dc8aa4eac" /><Relationship Type="http://schemas.openxmlformats.org/officeDocument/2006/relationships/slide" Target="/ppt/slides/slide3.xml" Id="R4a7bc611c7e6494e" /><Relationship Type="http://schemas.openxmlformats.org/officeDocument/2006/relationships/slide" Target="/ppt/slides/slide4.xml" Id="Rd9a24afcacf241b5" /><Relationship Type="http://schemas.openxmlformats.org/officeDocument/2006/relationships/slide" Target="/ppt/slides/slide5.xml" Id="R06364e53e2674bea" /><Relationship Type="http://schemas.openxmlformats.org/officeDocument/2006/relationships/slide" Target="/ppt/slides/slide6.xml" Id="R452341a0ef654bb3" /><Relationship Type="http://schemas.openxmlformats.org/officeDocument/2006/relationships/slide" Target="/ppt/slides/slide7.xml" Id="R2b8d4c798ac248ac" /><Relationship Type="http://schemas.openxmlformats.org/officeDocument/2006/relationships/slide" Target="/ppt/slides/slide8.xml" Id="R2009405a51944c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e9e595a78743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e8d9e008f64452" /><Relationship Type="http://schemas.openxmlformats.org/officeDocument/2006/relationships/notesMaster" Target="/ppt/notesMasters/notesMaster1.xml" Id="R8ba87729e04f45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7a0aba91664d5d" /><Relationship Type="http://schemas.openxmlformats.org/officeDocument/2006/relationships/notesMaster" Target="/ppt/notesMasters/notesMaster1.xml" Id="Ra7e9afaba61346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c11439f4b64443" /><Relationship Type="http://schemas.openxmlformats.org/officeDocument/2006/relationships/notesMaster" Target="/ppt/notesMasters/notesMaster1.xml" Id="Rc35c9b31c36a4b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0bd7de4e2b4174" /><Relationship Type="http://schemas.openxmlformats.org/officeDocument/2006/relationships/notesMaster" Target="/ppt/notesMasters/notesMaster1.xml" Id="Rf2eea742938248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6981955ac14326" /><Relationship Type="http://schemas.openxmlformats.org/officeDocument/2006/relationships/notesMaster" Target="/ppt/notesMasters/notesMaster1.xml" Id="Rac879877ff1349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a816fcf2f64959" /><Relationship Type="http://schemas.openxmlformats.org/officeDocument/2006/relationships/notesMaster" Target="/ppt/notesMasters/notesMaster1.xml" Id="R3cc96574b0fb4f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3eb808a30c4729" /><Relationship Type="http://schemas.openxmlformats.org/officeDocument/2006/relationships/notesMaster" Target="/ppt/notesMasters/notesMaster1.xml" Id="Rc352e5214fb149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c43b0175fc4541" /><Relationship Type="http://schemas.openxmlformats.org/officeDocument/2006/relationships/notesMaster" Target="/ppt/notesMasters/notesMaster1.xml" Id="Rde7a05d7ff8841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Model Context Protocol architecture documentation, https://modelcontextprotocol.io/docs/concepts/architecture. Trading Journal project documentation in docs/architecture_plan.md.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MCP architecture and concepts documentation: https://modelcontextprotocol.io/docs/concepts/architecture and specification sections for tools, resources and prompts at https://modelcontextprotocol.io/specification.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MCP architecture documentation on client-server interaction and capability discovery, https://modelcontextprotocol.io/docs/concepts/architecture.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MCP architecture documentation: https://modelcontextprotocol.io/docs/concepts/architecture. MCP 2026 roadmap for ecosystem direction: https://blog.modelcontextprotocol.io/posts/2026-mcp-roadmap/.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20, 2026. Web UI and MCP Console use an internal Python MCP client for context workflows. The external CLI connects directly to MCP endpoints, as shown on slide 6. Manual trade and portfolio pages also use application services directly. Market Data MCP selects YahooFinanceMarketDataProvider by default. It calls Yahoo's public chart endpoint using httpx without API keys. Alpaca remains an explicit optional provider. Broker is scaffolding and Trading supports preview only. Sources: docs/architecture_plan.md, docs/implementation_plan.md, docs/market_data_workflow.md, app/services/market_data.py, app/providers/market_data/yahoo.py.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paths call get_market_data_capabilities and get_equity_snapshots on the existing /market-data-mcp/ endpoint. The web route uses an in-process ASGI transport with the MCP Python client. scripts/mcp_demo_client.py uses a separate HTTP connection. Yahoo supplies regularMarketPrice with regularMarketTime from /v8/finance/chart/{symbol}. These are requested snapshots, not a continuously updating exchange feed. The app labels results SNAPSHOT and displays source timestamps; it does not guarantee real-time delivery. No Yahoo API key is required. Bid/ask remains unavailable. Options are best effort where contract chart data exists. Alpaca can be selected explicitly through TRADING_JOURNAL_MARKET_DATA_PROVIDER=alpaca and requires its own credentials. Sources: docs/market_data_workflow.md, app/providers/market_data/yahoo.py, scripts/mcp_demo_client.py. Yahoo chart reference: https://github.com/ranaroussi/yfinance/blob/main/yfinance/scrapers/history.py . This app uses httpx directly, not the yfinance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Yahoo Finance now supplies market snapshots and demo news through separate provider adapters behind the existing MCP interfaces. Snapshot rows include source timestamps, provider, currency, and per-symbol status. Missing or invalid prices never become zero-valued quotes. Individual bonds and mutual-fund NAV lookup remain unsupported. Contract availability varies. Broker connectivity remains a placeholder and order execution is not implemented. Audit is an application layer, not a sixth MCP server. Sources: docs/architecture_plan.md, docs/market_data_workflow.md, app/providers/market_data/yahoo.py, app/services/orders.py.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MCP architecture https://modelcontextprotocol.io/docs/concepts/architecture . MCP specification https://modelcontextprotocol.io/specification . MCP roadmap https://blog.modelcontextprotocol.io/posts/2026-mcp-roadmap/ . Yahoo chart implementation reference https://github.com/ranaroussi/yfinance/blob/main/yfinance/scrapers/history.py . Project source-access context https://ranaroussi.github.io/yfinance/ . Local references: docs/architecture_plan.md, docs/implementation_plan.md, docs/market_data_workflow.md, docs/mcp_use_case_white_paper.md, app/templates/workflow.html. The integration uses httpx, not yfinance. Review source-data terms before production deployment. The accepted proposal records the earlier Alpaca design and remains historical.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84a8f4c8bb43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e4bd5ea2ca402d" /><Relationship Type="http://schemas.openxmlformats.org/officeDocument/2006/relationships/slideLayout" Target="/ppt/slideLayouts/slideLayout1.xml" Id="R915a835c676a44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5a835c676a44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ddf0c7b133466d" /><Relationship Type="http://schemas.openxmlformats.org/officeDocument/2006/relationships/notesSlide" Target="/ppt/notesSlides/notesSlide1.xml" Id="R1d824bf5badd41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769494ffaa4055" /><Relationship Type="http://schemas.openxmlformats.org/officeDocument/2006/relationships/notesSlide" Target="/ppt/notesSlides/notesSlide2.xml" Id="R988450f2044e4b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de002ee91a44bf" /><Relationship Type="http://schemas.openxmlformats.org/officeDocument/2006/relationships/notesSlide" Target="/ppt/notesSlides/notesSlide3.xml" Id="R0c3a95defbd049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c78332711e40e1" /><Relationship Type="http://schemas.openxmlformats.org/officeDocument/2006/relationships/notesSlide" Target="/ppt/notesSlides/notesSlide4.xml" Id="R23d24395565a4c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30cf232fac4595" /><Relationship Type="http://schemas.openxmlformats.org/officeDocument/2006/relationships/notesSlide" Target="/ppt/notesSlides/notesSlide5.xml" Id="Rad216db9628d40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228a46772c4ca7" /><Relationship Type="http://schemas.openxmlformats.org/officeDocument/2006/relationships/notesSlide" Target="/ppt/notesSlides/notesSlide6.xml" Id="Rd73c00d1fd114d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4febaf969c443a" /><Relationship Type="http://schemas.openxmlformats.org/officeDocument/2006/relationships/notesSlide" Target="/ppt/notesSlides/notesSlide7.xml" Id="Rb351ef980dd74c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07dd47e0564b4a" /><Relationship Type="http://schemas.openxmlformats.org/officeDocument/2006/relationships/notesSlide" Target="/ppt/notesSlides/notesSlide8.xml" Id="R86120addc7f848d8" /></Relationships>
</file>

<file path=ppt/slides/slide1.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83B62C6-90CA-4006-AB2F-D8D0F96DA9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87A7BA-92E1-412E-93DF-F2EDAFCF60BC}"/>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5516C3-A275-42B1-9B0E-BBD00B5B1BF8}"/>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AD19FD-171E-4B37-A327-F2FEEA115C4F}"/>
              </a:ext>
            </a:extLst>
          </p:cNvPr>
          <p:cNvSpPr>
            <a:spLocks xmlns:a="http://schemas.openxmlformats.org/drawingml/2006/main" noGrp="1"/>
          </p:cNvSpPr>
          <p:nvPr/>
        </p:nvSpPr>
        <p:spPr>
          <a:xfrm xmlns:a="http://schemas.openxmlformats.org/drawingml/2006/main">
            <a:off x="685800" y="87630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3450" b="1">
                <a:solidFill>
                  <a:srgbClr val="EDF6FF"/>
                </a:solidFill>
                <a:latin typeface="Aptos"/>
                <a:ea typeface="Aptos"/>
                <a:cs typeface="Aptos"/>
              </a:defRPr>
            </a:pPr>
            <a:r>
              <a:rPr sz="3450" b="1">
                <a:solidFill>
                  <a:srgbClr val="EDF6FF"/>
                </a:solidFill>
                <a:latin typeface="Aptos"/>
                <a:ea typeface="Aptos"/>
                <a:cs typeface="Aptos"/>
              </a:rPr>
              <a:t>Model Context Protocol</a:t>
            </a:r>
          </a:p>
        </p:txBody>
      </p:sp>
      <p:sp>
        <p:nvSpPr>
          <p:cNvPr id="5" name="">
            <a:extLst xmlns:a="http://schemas.openxmlformats.org/drawingml/2006/main">
              <a:ext uri="{FF2B5EF4-FFF2-40B4-BE49-F238E27FC236}">
                <a16:creationId xmlns:a16="http://schemas.microsoft.com/office/drawing/2014/main" id="{D7CCF55D-9BA1-46AA-9236-6E9FBC1860C8}"/>
              </a:ext>
            </a:extLst>
          </p:cNvPr>
          <p:cNvSpPr>
            <a:spLocks xmlns:a="http://schemas.openxmlformats.org/drawingml/2006/main" noGrp="1"/>
          </p:cNvSpPr>
          <p:nvPr/>
        </p:nvSpPr>
        <p:spPr>
          <a:xfrm xmlns:a="http://schemas.openxmlformats.org/drawingml/2006/main">
            <a:off x="704850" y="16573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575" b="0">
                <a:solidFill>
                  <a:srgbClr val="9AAABC"/>
                </a:solidFill>
                <a:latin typeface="Aptos"/>
                <a:ea typeface="Aptos"/>
                <a:cs typeface="Aptos"/>
              </a:defRPr>
            </a:pPr>
            <a:r>
              <a:rPr sz="1575" b="0">
                <a:solidFill>
                  <a:srgbClr val="9AAABC"/>
                </a:solidFill>
                <a:latin typeface="Aptos"/>
                <a:ea typeface="Aptos"/>
                <a:cs typeface="Aptos"/>
              </a:rPr>
              <a:t>General concept and Trading Journal use case</a:t>
            </a:r>
          </a:p>
        </p:txBody>
      </p:sp>
      <p:sp>
        <p:nvSpPr>
          <p:cNvPr id="6" name="">
            <a:extLst xmlns:a="http://schemas.openxmlformats.org/drawingml/2006/main">
              <a:ext uri="{FF2B5EF4-FFF2-40B4-BE49-F238E27FC236}">
                <a16:creationId xmlns:a16="http://schemas.microsoft.com/office/drawing/2014/main" id="{EA49C4D3-7C31-469A-88FB-9FE07B68D5B7}"/>
              </a:ext>
            </a:extLst>
          </p:cNvPr>
          <p:cNvSpPr>
            <a:spLocks xmlns:a="http://schemas.openxmlformats.org/drawingml/2006/main" noGrp="1"/>
          </p:cNvSpPr>
          <p:nvPr/>
        </p:nvSpPr>
        <p:spPr>
          <a:xfrm xmlns:a="http://schemas.openxmlformats.org/drawingml/2006/main">
            <a:off x="1047750" y="3105150"/>
            <a:ext cx="2190750" cy="1066800"/>
          </a:xfrm>
          <a:prstGeom xmlns:a="http://schemas.openxmlformats.org/drawingml/2006/main" prst="roundRect">
            <a:avLst>
              <a:gd name="adj" fmla="val 7143"/>
            </a:avLst>
          </a:prstGeom>
          <a:ln xmlns:a="http://schemas.openxmlformats.org/drawingml/2006/main" w="11430">
            <a:solidFill>
              <a:srgbClr val="2DD4BF"/>
            </a:solidFill>
            <a:prstDash val="solid"/>
          </a:ln>
        </p:spPr>
      </p:sp>
      <p:sp>
        <p:nvSpPr>
          <p:cNvPr id="7" name="">
            <a:extLst xmlns:a="http://schemas.openxmlformats.org/drawingml/2006/main">
              <a:ext uri="{FF2B5EF4-FFF2-40B4-BE49-F238E27FC236}">
                <a16:creationId xmlns:a16="http://schemas.microsoft.com/office/drawing/2014/main" id="{5B727512-4869-4739-AE9B-6E394C77C102}"/>
              </a:ext>
            </a:extLst>
          </p:cNvPr>
          <p:cNvSpPr>
            <a:spLocks xmlns:a="http://schemas.openxmlformats.org/drawingml/2006/main" noGrp="1"/>
          </p:cNvSpPr>
          <p:nvPr/>
        </p:nvSpPr>
        <p:spPr>
          <a:xfrm xmlns:a="http://schemas.openxmlformats.org/drawingml/2006/main">
            <a:off x="1200150" y="321945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a:t>
            </a:r>
          </a:p>
        </p:txBody>
      </p:sp>
      <p:sp>
        <p:nvSpPr>
          <p:cNvPr id="8" name="">
            <a:extLst xmlns:a="http://schemas.openxmlformats.org/drawingml/2006/main">
              <a:ext uri="{FF2B5EF4-FFF2-40B4-BE49-F238E27FC236}">
                <a16:creationId xmlns:a16="http://schemas.microsoft.com/office/drawing/2014/main" id="{AA953751-C61B-42C2-8256-E41E87A0DEBF}"/>
              </a:ext>
            </a:extLst>
          </p:cNvPr>
          <p:cNvSpPr>
            <a:spLocks xmlns:a="http://schemas.openxmlformats.org/drawingml/2006/main" noGrp="1"/>
          </p:cNvSpPr>
          <p:nvPr/>
        </p:nvSpPr>
        <p:spPr>
          <a:xfrm xmlns:a="http://schemas.openxmlformats.org/drawingml/2006/main">
            <a:off x="1219200" y="3505200"/>
            <a:ext cx="1847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AI app or UI</a:t>
            </a:r>
          </a:p>
        </p:txBody>
      </p:sp>
      <p:sp>
        <p:nvSpPr>
          <p:cNvPr id="9" name="">
            <a:extLst xmlns:a="http://schemas.openxmlformats.org/drawingml/2006/main">
              <a:ext uri="{FF2B5EF4-FFF2-40B4-BE49-F238E27FC236}">
                <a16:creationId xmlns:a16="http://schemas.microsoft.com/office/drawing/2014/main" id="{72D1B12D-2D07-42CD-92D5-6162818399FF}"/>
              </a:ext>
            </a:extLst>
          </p:cNvPr>
          <p:cNvSpPr>
            <a:spLocks xmlns:a="http://schemas.openxmlformats.org/drawingml/2006/main" noGrp="1"/>
          </p:cNvSpPr>
          <p:nvPr/>
        </p:nvSpPr>
        <p:spPr>
          <a:xfrm xmlns:a="http://schemas.openxmlformats.org/drawingml/2006/main">
            <a:off x="5000625" y="2895600"/>
            <a:ext cx="2190750" cy="1485900"/>
          </a:xfrm>
          <a:prstGeom xmlns:a="http://schemas.openxmlformats.org/drawingml/2006/main" prst="roundRect">
            <a:avLst>
              <a:gd name="adj" fmla="val 5128"/>
            </a:avLst>
          </a:prstGeom>
          <a:ln xmlns:a="http://schemas.openxmlformats.org/drawingml/2006/main" w="11430">
            <a:solidFill>
              <a:srgbClr val="38BDF8"/>
            </a:solidFill>
            <a:prstDash val="solid"/>
          </a:ln>
        </p:spPr>
      </p:sp>
      <p:sp>
        <p:nvSpPr>
          <p:cNvPr id="10" name="">
            <a:extLst xmlns:a="http://schemas.openxmlformats.org/drawingml/2006/main">
              <a:ext uri="{FF2B5EF4-FFF2-40B4-BE49-F238E27FC236}">
                <a16:creationId xmlns:a16="http://schemas.microsoft.com/office/drawing/2014/main" id="{6365D607-B1DA-419D-8A16-092D15860793}"/>
              </a:ext>
            </a:extLst>
          </p:cNvPr>
          <p:cNvSpPr>
            <a:spLocks xmlns:a="http://schemas.openxmlformats.org/drawingml/2006/main" noGrp="1"/>
          </p:cNvSpPr>
          <p:nvPr/>
        </p:nvSpPr>
        <p:spPr>
          <a:xfrm xmlns:a="http://schemas.openxmlformats.org/drawingml/2006/main">
            <a:off x="5153025" y="30099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PROTOCOL</a:t>
            </a:r>
          </a:p>
        </p:txBody>
      </p:sp>
      <p:sp>
        <p:nvSpPr>
          <p:cNvPr id="11" name="">
            <a:extLst xmlns:a="http://schemas.openxmlformats.org/drawingml/2006/main">
              <a:ext uri="{FF2B5EF4-FFF2-40B4-BE49-F238E27FC236}">
                <a16:creationId xmlns:a16="http://schemas.microsoft.com/office/drawing/2014/main" id="{25F039D8-CBEB-4E16-B931-1C0932670147}"/>
              </a:ext>
            </a:extLst>
          </p:cNvPr>
          <p:cNvSpPr>
            <a:spLocks xmlns:a="http://schemas.openxmlformats.org/drawingml/2006/main" noGrp="1"/>
          </p:cNvSpPr>
          <p:nvPr/>
        </p:nvSpPr>
        <p:spPr>
          <a:xfrm xmlns:a="http://schemas.openxmlformats.org/drawingml/2006/main">
            <a:off x="5172075" y="3295650"/>
            <a:ext cx="1847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2550" b="1">
                <a:solidFill>
                  <a:srgbClr val="EDF6FF"/>
                </a:solidFill>
                <a:latin typeface="Aptos"/>
                <a:ea typeface="Aptos"/>
                <a:cs typeface="Aptos"/>
              </a:defRPr>
            </a:pPr>
            <a:r>
              <a:rPr sz="2550" b="1">
                <a:solidFill>
                  <a:srgbClr val="EDF6FF"/>
                </a:solidFill>
                <a:latin typeface="Aptos"/>
                <a:ea typeface="Aptos"/>
                <a:cs typeface="Aptos"/>
              </a:rPr>
              <a:t>MCP</a:t>
            </a:r>
          </a:p>
        </p:txBody>
      </p:sp>
      <p:sp>
        <p:nvSpPr>
          <p:cNvPr id="12" name="">
            <a:extLst xmlns:a="http://schemas.openxmlformats.org/drawingml/2006/main">
              <a:ext uri="{FF2B5EF4-FFF2-40B4-BE49-F238E27FC236}">
                <a16:creationId xmlns:a16="http://schemas.microsoft.com/office/drawing/2014/main" id="{38862E6A-E039-4C3D-A4FA-A1D297CC8841}"/>
              </a:ext>
            </a:extLst>
          </p:cNvPr>
          <p:cNvSpPr>
            <a:spLocks xmlns:a="http://schemas.openxmlformats.org/drawingml/2006/main" noGrp="1"/>
          </p:cNvSpPr>
          <p:nvPr/>
        </p:nvSpPr>
        <p:spPr>
          <a:xfrm xmlns:a="http://schemas.openxmlformats.org/drawingml/2006/main">
            <a:off x="8953500" y="3105150"/>
            <a:ext cx="2190750" cy="1066800"/>
          </a:xfrm>
          <a:prstGeom xmlns:a="http://schemas.openxmlformats.org/drawingml/2006/main" prst="roundRect">
            <a:avLst>
              <a:gd name="adj" fmla="val 7143"/>
            </a:avLst>
          </a:prstGeom>
          <a:ln xmlns:a="http://schemas.openxmlformats.org/drawingml/2006/main" w="11430">
            <a:solidFill>
              <a:srgbClr val="2DD4BF"/>
            </a:solidFill>
            <a:prstDash val="solid"/>
          </a:ln>
        </p:spPr>
      </p:sp>
      <p:sp>
        <p:nvSpPr>
          <p:cNvPr id="13" name="">
            <a:extLst xmlns:a="http://schemas.openxmlformats.org/drawingml/2006/main">
              <a:ext uri="{FF2B5EF4-FFF2-40B4-BE49-F238E27FC236}">
                <a16:creationId xmlns:a16="http://schemas.microsoft.com/office/drawing/2014/main" id="{CAC8492C-2E6E-4199-B8D2-6978356648F1}"/>
              </a:ext>
            </a:extLst>
          </p:cNvPr>
          <p:cNvSpPr>
            <a:spLocks xmlns:a="http://schemas.openxmlformats.org/drawingml/2006/main" noGrp="1"/>
          </p:cNvSpPr>
          <p:nvPr/>
        </p:nvSpPr>
        <p:spPr>
          <a:xfrm xmlns:a="http://schemas.openxmlformats.org/drawingml/2006/main">
            <a:off x="9105900" y="321945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SERVER</a:t>
            </a:r>
          </a:p>
        </p:txBody>
      </p:sp>
      <p:sp>
        <p:nvSpPr>
          <p:cNvPr id="14" name="">
            <a:extLst xmlns:a="http://schemas.openxmlformats.org/drawingml/2006/main">
              <a:ext uri="{FF2B5EF4-FFF2-40B4-BE49-F238E27FC236}">
                <a16:creationId xmlns:a16="http://schemas.microsoft.com/office/drawing/2014/main" id="{5625178E-8B8A-4645-9F74-945AEC499A5F}"/>
              </a:ext>
            </a:extLst>
          </p:cNvPr>
          <p:cNvSpPr>
            <a:spLocks xmlns:a="http://schemas.openxmlformats.org/drawingml/2006/main" noGrp="1"/>
          </p:cNvSpPr>
          <p:nvPr/>
        </p:nvSpPr>
        <p:spPr>
          <a:xfrm xmlns:a="http://schemas.openxmlformats.org/drawingml/2006/main">
            <a:off x="9124950" y="3505200"/>
            <a:ext cx="1847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Tools and context</a:t>
            </a:r>
          </a:p>
        </p:txBody>
      </p:sp>
      <p:cxnSp>
        <p:nvCxnSpPr>
          <p:cNvPr id="33" name="">
            <a:extLst xmlns:a="http://schemas.openxmlformats.org/drawingml/2006/main">
              <a:ext uri="{FF2B5EF4-FFF2-40B4-BE49-F238E27FC236}">
                <a16:creationId xmlns:a16="http://schemas.microsoft.com/office/drawing/2014/main" id="{A47B094B-13D6-44C1-868E-A2904B984264}"/>
              </a:ext>
            </a:extLst>
          </p:cNvPr>
          <p:cNvCxnSpPr>
            <a:stCxn xmlns:a="http://schemas.openxmlformats.org/drawingml/2006/main" id="6" idx="3"/>
            <a:endCxn xmlns:a="http://schemas.openxmlformats.org/drawingml/2006/main" id="9" idx="1"/>
          </p:cNvCxnSpPr>
          <p:nvPr/>
        </p:nvCxnSpPr>
        <p:spPr>
          <a:xfrm xmlns:a="http://schemas.openxmlformats.org/drawingml/2006/main">
            <a:off x="3238500" y="3638550"/>
            <a:ext cx="1762125"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34" name="">
            <a:extLst xmlns:a="http://schemas.openxmlformats.org/drawingml/2006/main">
              <a:ext uri="{FF2B5EF4-FFF2-40B4-BE49-F238E27FC236}">
                <a16:creationId xmlns:a16="http://schemas.microsoft.com/office/drawing/2014/main" id="{D89797AD-85C4-4895-AB41-C07B200C79F5}"/>
              </a:ext>
            </a:extLst>
          </p:cNvPr>
          <p:cNvCxnSpPr>
            <a:stCxn xmlns:a="http://schemas.openxmlformats.org/drawingml/2006/main" id="9" idx="3"/>
            <a:endCxn xmlns:a="http://schemas.openxmlformats.org/drawingml/2006/main" id="12" idx="1"/>
          </p:cNvCxnSpPr>
          <p:nvPr/>
        </p:nvCxnSpPr>
        <p:spPr>
          <a:xfrm xmlns:a="http://schemas.openxmlformats.org/drawingml/2006/main">
            <a:off x="7191375" y="3638550"/>
            <a:ext cx="1762125"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sp>
        <p:nvSpPr>
          <p:cNvPr id="17" name="">
            <a:extLst xmlns:a="http://schemas.openxmlformats.org/drawingml/2006/main">
              <a:ext uri="{FF2B5EF4-FFF2-40B4-BE49-F238E27FC236}">
                <a16:creationId xmlns:a16="http://schemas.microsoft.com/office/drawing/2014/main" id="{E85E397C-CEE0-4307-A64E-D90172A9A463}"/>
              </a:ext>
            </a:extLst>
          </p:cNvPr>
          <p:cNvSpPr>
            <a:spLocks xmlns:a="http://schemas.openxmlformats.org/drawingml/2006/main" noGrp="1"/>
          </p:cNvSpPr>
          <p:nvPr/>
        </p:nvSpPr>
        <p:spPr>
          <a:xfrm xmlns:a="http://schemas.openxmlformats.org/drawingml/2006/main">
            <a:off x="2714625" y="48196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buNone/>
              <a:defRPr sz="1650" b="0">
                <a:solidFill>
                  <a:srgbClr val="EDF6FF"/>
                </a:solidFill>
                <a:latin typeface="Aptos"/>
                <a:ea typeface="Aptos"/>
                <a:cs typeface="Aptos"/>
              </a:defRPr>
            </a:pPr>
            <a:r>
              <a:rPr sz="1650" b="0">
                <a:solidFill>
                  <a:srgbClr val="EDF6FF"/>
                </a:solidFill>
                <a:latin typeface="Aptos"/>
                <a:ea typeface="Aptos"/>
                <a:cs typeface="Aptos"/>
              </a:rPr>
              <a:t>A common way for clients to discover and use external capabilities</a:t>
            </a:r>
          </a:p>
        </p:txBody>
      </p:sp>
      <p:sp>
        <p:nvSpPr>
          <p:cNvPr id="18" name="">
            <a:extLst xmlns:a="http://schemas.openxmlformats.org/drawingml/2006/main">
              <a:ext uri="{FF2B5EF4-FFF2-40B4-BE49-F238E27FC236}">
                <a16:creationId xmlns:a16="http://schemas.microsoft.com/office/drawing/2014/main" id="{7A45D0DD-6C10-44D3-B48E-E36BD136AB1D}"/>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01</a:t>
            </a:r>
          </a:p>
        </p:txBody>
      </p:sp>
    </p:spTree>
    <p:extLst>
      <p:ext uri="{BB962C8B-B14F-4D97-AF65-F5344CB8AC3E}">
        <p14:creationId xmlns:p14="http://schemas.microsoft.com/office/powerpoint/2010/main" val="665139047"/>
      </p:ext>
    </p:extLst>
  </p:cSld>
</p:sld>
</file>

<file path=ppt/slides/slide2.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F467407-53CE-403A-8EED-60F8876CA7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D44588-D65A-40B6-93A5-3D7E67791C7C}"/>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67EE4-9946-40D5-B419-5164D112C67F}"/>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EB409F-F2EE-4B25-802D-25665291D28D}"/>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MCP building blocks</a:t>
            </a:r>
          </a:p>
        </p:txBody>
      </p:sp>
      <p:sp>
        <p:nvSpPr>
          <p:cNvPr id="5" name="">
            <a:extLst xmlns:a="http://schemas.openxmlformats.org/drawingml/2006/main">
              <a:ext uri="{FF2B5EF4-FFF2-40B4-BE49-F238E27FC236}">
                <a16:creationId xmlns:a16="http://schemas.microsoft.com/office/drawing/2014/main" id="{43B3A7D2-A152-4409-9AFF-CEF7DA40E89D}"/>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The protocol separates user experience from available capabilities</a:t>
            </a:r>
          </a:p>
        </p:txBody>
      </p:sp>
      <p:sp>
        <p:nvSpPr>
          <p:cNvPr id="6" name="">
            <a:extLst xmlns:a="http://schemas.openxmlformats.org/drawingml/2006/main">
              <a:ext uri="{FF2B5EF4-FFF2-40B4-BE49-F238E27FC236}">
                <a16:creationId xmlns:a16="http://schemas.microsoft.com/office/drawing/2014/main" id="{44ABD6B8-F7B3-4996-92B2-2DCB7D407925}"/>
              </a:ext>
            </a:extLst>
          </p:cNvPr>
          <p:cNvSpPr>
            <a:spLocks xmlns:a="http://schemas.openxmlformats.org/drawingml/2006/main" noGrp="1"/>
          </p:cNvSpPr>
          <p:nvPr/>
        </p:nvSpPr>
        <p:spPr>
          <a:xfrm xmlns:a="http://schemas.openxmlformats.org/drawingml/2006/main">
            <a:off x="666750" y="2428875"/>
            <a:ext cx="2381250" cy="1143000"/>
          </a:xfrm>
          <a:prstGeom xmlns:a="http://schemas.openxmlformats.org/drawingml/2006/main" prst="roundRect">
            <a:avLst>
              <a:gd name="adj" fmla="val 6667"/>
            </a:avLst>
          </a:prstGeom>
          <a:ln xmlns:a="http://schemas.openxmlformats.org/drawingml/2006/main" w="11430">
            <a:solidFill>
              <a:srgbClr val="38BDF8"/>
            </a:solidFill>
            <a:prstDash val="solid"/>
          </a:ln>
        </p:spPr>
      </p:sp>
      <p:sp>
        <p:nvSpPr>
          <p:cNvPr id="7" name="">
            <a:extLst xmlns:a="http://schemas.openxmlformats.org/drawingml/2006/main">
              <a:ext uri="{FF2B5EF4-FFF2-40B4-BE49-F238E27FC236}">
                <a16:creationId xmlns:a16="http://schemas.microsoft.com/office/drawing/2014/main" id="{C0790FE8-56C1-4216-8EB3-A413FFD92C5B}"/>
              </a:ext>
            </a:extLst>
          </p:cNvPr>
          <p:cNvSpPr>
            <a:spLocks xmlns:a="http://schemas.openxmlformats.org/drawingml/2006/main" noGrp="1"/>
          </p:cNvSpPr>
          <p:nvPr/>
        </p:nvSpPr>
        <p:spPr>
          <a:xfrm xmlns:a="http://schemas.openxmlformats.org/drawingml/2006/main">
            <a:off x="819150" y="254317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HOST</a:t>
            </a:r>
          </a:p>
        </p:txBody>
      </p:sp>
      <p:sp>
        <p:nvSpPr>
          <p:cNvPr id="8" name="">
            <a:extLst xmlns:a="http://schemas.openxmlformats.org/drawingml/2006/main">
              <a:ext uri="{FF2B5EF4-FFF2-40B4-BE49-F238E27FC236}">
                <a16:creationId xmlns:a16="http://schemas.microsoft.com/office/drawing/2014/main" id="{5151A38E-BABA-42E9-871B-46152891032A}"/>
              </a:ext>
            </a:extLst>
          </p:cNvPr>
          <p:cNvSpPr>
            <a:spLocks xmlns:a="http://schemas.openxmlformats.org/drawingml/2006/main" noGrp="1"/>
          </p:cNvSpPr>
          <p:nvPr/>
        </p:nvSpPr>
        <p:spPr>
          <a:xfrm xmlns:a="http://schemas.openxmlformats.org/drawingml/2006/main">
            <a:off x="838200" y="2828925"/>
            <a:ext cx="203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ChatGPT, IDE, or custom app</a:t>
            </a:r>
          </a:p>
        </p:txBody>
      </p:sp>
      <p:sp>
        <p:nvSpPr>
          <p:cNvPr id="9" name="">
            <a:extLst xmlns:a="http://schemas.openxmlformats.org/drawingml/2006/main">
              <a:ext uri="{FF2B5EF4-FFF2-40B4-BE49-F238E27FC236}">
                <a16:creationId xmlns:a16="http://schemas.microsoft.com/office/drawing/2014/main" id="{F8550399-B887-409D-9D7F-195FC1BC008D}"/>
              </a:ext>
            </a:extLst>
          </p:cNvPr>
          <p:cNvSpPr>
            <a:spLocks xmlns:a="http://schemas.openxmlformats.org/drawingml/2006/main" noGrp="1"/>
          </p:cNvSpPr>
          <p:nvPr/>
        </p:nvSpPr>
        <p:spPr>
          <a:xfrm xmlns:a="http://schemas.openxmlformats.org/drawingml/2006/main">
            <a:off x="3752850" y="2428875"/>
            <a:ext cx="2381250" cy="1143000"/>
          </a:xfrm>
          <a:prstGeom xmlns:a="http://schemas.openxmlformats.org/drawingml/2006/main" prst="roundRect">
            <a:avLst>
              <a:gd name="adj" fmla="val 6667"/>
            </a:avLst>
          </a:prstGeom>
          <a:ln xmlns:a="http://schemas.openxmlformats.org/drawingml/2006/main" w="11430">
            <a:solidFill>
              <a:srgbClr val="2DD4BF"/>
            </a:solidFill>
            <a:prstDash val="solid"/>
          </a:ln>
        </p:spPr>
      </p:sp>
      <p:sp>
        <p:nvSpPr>
          <p:cNvPr id="10" name="">
            <a:extLst xmlns:a="http://schemas.openxmlformats.org/drawingml/2006/main">
              <a:ext uri="{FF2B5EF4-FFF2-40B4-BE49-F238E27FC236}">
                <a16:creationId xmlns:a16="http://schemas.microsoft.com/office/drawing/2014/main" id="{5D85DBEA-561A-477B-82CD-6301DDAE9D0B}"/>
              </a:ext>
            </a:extLst>
          </p:cNvPr>
          <p:cNvSpPr>
            <a:spLocks xmlns:a="http://schemas.openxmlformats.org/drawingml/2006/main" noGrp="1"/>
          </p:cNvSpPr>
          <p:nvPr/>
        </p:nvSpPr>
        <p:spPr>
          <a:xfrm xmlns:a="http://schemas.openxmlformats.org/drawingml/2006/main">
            <a:off x="3905250" y="254317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a:t>
            </a:r>
          </a:p>
        </p:txBody>
      </p:sp>
      <p:sp>
        <p:nvSpPr>
          <p:cNvPr id="11" name="">
            <a:extLst xmlns:a="http://schemas.openxmlformats.org/drawingml/2006/main">
              <a:ext uri="{FF2B5EF4-FFF2-40B4-BE49-F238E27FC236}">
                <a16:creationId xmlns:a16="http://schemas.microsoft.com/office/drawing/2014/main" id="{6133F710-BE5A-40D9-800E-1AC670776979}"/>
              </a:ext>
            </a:extLst>
          </p:cNvPr>
          <p:cNvSpPr>
            <a:spLocks xmlns:a="http://schemas.openxmlformats.org/drawingml/2006/main" noGrp="1"/>
          </p:cNvSpPr>
          <p:nvPr/>
        </p:nvSpPr>
        <p:spPr>
          <a:xfrm xmlns:a="http://schemas.openxmlformats.org/drawingml/2006/main">
            <a:off x="3924300" y="2828925"/>
            <a:ext cx="203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One connection per server</a:t>
            </a:r>
          </a:p>
        </p:txBody>
      </p:sp>
      <p:sp>
        <p:nvSpPr>
          <p:cNvPr id="12" name="">
            <a:extLst xmlns:a="http://schemas.openxmlformats.org/drawingml/2006/main">
              <a:ext uri="{FF2B5EF4-FFF2-40B4-BE49-F238E27FC236}">
                <a16:creationId xmlns:a16="http://schemas.microsoft.com/office/drawing/2014/main" id="{9EC3967B-C3C9-4E9C-B731-FE1754718B66}"/>
              </a:ext>
            </a:extLst>
          </p:cNvPr>
          <p:cNvSpPr>
            <a:spLocks xmlns:a="http://schemas.openxmlformats.org/drawingml/2006/main" noGrp="1"/>
          </p:cNvSpPr>
          <p:nvPr/>
        </p:nvSpPr>
        <p:spPr>
          <a:xfrm xmlns:a="http://schemas.openxmlformats.org/drawingml/2006/main">
            <a:off x="6838950" y="2428875"/>
            <a:ext cx="2381250" cy="1143000"/>
          </a:xfrm>
          <a:prstGeom xmlns:a="http://schemas.openxmlformats.org/drawingml/2006/main" prst="roundRect">
            <a:avLst>
              <a:gd name="adj" fmla="val 6667"/>
            </a:avLst>
          </a:prstGeom>
          <a:ln xmlns:a="http://schemas.openxmlformats.org/drawingml/2006/main" w="11430">
            <a:solidFill>
              <a:srgbClr val="4ADE80"/>
            </a:solidFill>
            <a:prstDash val="solid"/>
          </a:ln>
        </p:spPr>
      </p:sp>
      <p:sp>
        <p:nvSpPr>
          <p:cNvPr id="13" name="">
            <a:extLst xmlns:a="http://schemas.openxmlformats.org/drawingml/2006/main">
              <a:ext uri="{FF2B5EF4-FFF2-40B4-BE49-F238E27FC236}">
                <a16:creationId xmlns:a16="http://schemas.microsoft.com/office/drawing/2014/main" id="{3667D373-4876-4C96-BD02-C09B5FEA600F}"/>
              </a:ext>
            </a:extLst>
          </p:cNvPr>
          <p:cNvSpPr>
            <a:spLocks xmlns:a="http://schemas.openxmlformats.org/drawingml/2006/main" noGrp="1"/>
          </p:cNvSpPr>
          <p:nvPr/>
        </p:nvSpPr>
        <p:spPr>
          <a:xfrm xmlns:a="http://schemas.openxmlformats.org/drawingml/2006/main">
            <a:off x="6991350" y="254317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SERVER</a:t>
            </a:r>
          </a:p>
        </p:txBody>
      </p:sp>
      <p:sp>
        <p:nvSpPr>
          <p:cNvPr id="14" name="">
            <a:extLst xmlns:a="http://schemas.openxmlformats.org/drawingml/2006/main">
              <a:ext uri="{FF2B5EF4-FFF2-40B4-BE49-F238E27FC236}">
                <a16:creationId xmlns:a16="http://schemas.microsoft.com/office/drawing/2014/main" id="{ED360026-A961-45C4-A222-0602E2F65BD5}"/>
              </a:ext>
            </a:extLst>
          </p:cNvPr>
          <p:cNvSpPr>
            <a:spLocks xmlns:a="http://schemas.openxmlformats.org/drawingml/2006/main" noGrp="1"/>
          </p:cNvSpPr>
          <p:nvPr/>
        </p:nvSpPr>
        <p:spPr>
          <a:xfrm xmlns:a="http://schemas.openxmlformats.org/drawingml/2006/main">
            <a:off x="7010400" y="2828925"/>
            <a:ext cx="2038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Exposes tools and context</a:t>
            </a:r>
          </a:p>
        </p:txBody>
      </p:sp>
      <p:sp>
        <p:nvSpPr>
          <p:cNvPr id="15" name="">
            <a:extLst xmlns:a="http://schemas.openxmlformats.org/drawingml/2006/main">
              <a:ext uri="{FF2B5EF4-FFF2-40B4-BE49-F238E27FC236}">
                <a16:creationId xmlns:a16="http://schemas.microsoft.com/office/drawing/2014/main" id="{AB1C64FC-9588-49AA-B562-308A43D6FC5B}"/>
              </a:ext>
            </a:extLst>
          </p:cNvPr>
          <p:cNvSpPr>
            <a:spLocks xmlns:a="http://schemas.openxmlformats.org/drawingml/2006/main" noGrp="1"/>
          </p:cNvSpPr>
          <p:nvPr/>
        </p:nvSpPr>
        <p:spPr>
          <a:xfrm xmlns:a="http://schemas.openxmlformats.org/drawingml/2006/main">
            <a:off x="9886950" y="2428875"/>
            <a:ext cx="1619250" cy="1143000"/>
          </a:xfrm>
          <a:prstGeom xmlns:a="http://schemas.openxmlformats.org/drawingml/2006/main" prst="roundRect">
            <a:avLst>
              <a:gd name="adj" fmla="val 6667"/>
            </a:avLst>
          </a:prstGeom>
          <a:ln xmlns:a="http://schemas.openxmlformats.org/drawingml/2006/main" w="11430">
            <a:solidFill>
              <a:srgbClr val="2A3D50"/>
            </a:solidFill>
            <a:prstDash val="solid"/>
          </a:ln>
        </p:spPr>
      </p:sp>
      <p:sp>
        <p:nvSpPr>
          <p:cNvPr id="16" name="">
            <a:extLst xmlns:a="http://schemas.openxmlformats.org/drawingml/2006/main">
              <a:ext uri="{FF2B5EF4-FFF2-40B4-BE49-F238E27FC236}">
                <a16:creationId xmlns:a16="http://schemas.microsoft.com/office/drawing/2014/main" id="{A28450BE-A5FE-4D6B-8FF1-0BE62520EA4D}"/>
              </a:ext>
            </a:extLst>
          </p:cNvPr>
          <p:cNvSpPr>
            <a:spLocks xmlns:a="http://schemas.openxmlformats.org/drawingml/2006/main" noGrp="1"/>
          </p:cNvSpPr>
          <p:nvPr/>
        </p:nvSpPr>
        <p:spPr>
          <a:xfrm xmlns:a="http://schemas.openxmlformats.org/drawingml/2006/main">
            <a:off x="10039350" y="2543175"/>
            <a:ext cx="1314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DATA</a:t>
            </a:r>
          </a:p>
        </p:txBody>
      </p:sp>
      <p:sp>
        <p:nvSpPr>
          <p:cNvPr id="17" name="">
            <a:extLst xmlns:a="http://schemas.openxmlformats.org/drawingml/2006/main">
              <a:ext uri="{FF2B5EF4-FFF2-40B4-BE49-F238E27FC236}">
                <a16:creationId xmlns:a16="http://schemas.microsoft.com/office/drawing/2014/main" id="{9ABEFBA6-CA2E-44DC-9986-A07680B299CF}"/>
              </a:ext>
            </a:extLst>
          </p:cNvPr>
          <p:cNvSpPr>
            <a:spLocks xmlns:a="http://schemas.openxmlformats.org/drawingml/2006/main" noGrp="1"/>
          </p:cNvSpPr>
          <p:nvPr/>
        </p:nvSpPr>
        <p:spPr>
          <a:xfrm xmlns:a="http://schemas.openxmlformats.org/drawingml/2006/main">
            <a:off x="10058400" y="2828925"/>
            <a:ext cx="1276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275" b="1">
                <a:solidFill>
                  <a:srgbClr val="EDF6FF"/>
                </a:solidFill>
                <a:latin typeface="Aptos"/>
                <a:ea typeface="Aptos"/>
                <a:cs typeface="Aptos"/>
              </a:defRPr>
            </a:pPr>
            <a:r>
              <a:rPr sz="1275" b="1">
                <a:solidFill>
                  <a:srgbClr val="EDF6FF"/>
                </a:solidFill>
                <a:latin typeface="Aptos"/>
                <a:ea typeface="Aptos"/>
                <a:cs typeface="Aptos"/>
              </a:rPr>
              <a:t>APIs, files, databases</a:t>
            </a:r>
          </a:p>
        </p:txBody>
      </p:sp>
      <p:cxnSp>
        <p:nvCxnSpPr>
          <p:cNvPr id="48" name="">
            <a:extLst xmlns:a="http://schemas.openxmlformats.org/drawingml/2006/main">
              <a:ext uri="{FF2B5EF4-FFF2-40B4-BE49-F238E27FC236}">
                <a16:creationId xmlns:a16="http://schemas.microsoft.com/office/drawing/2014/main" id="{74097912-5FDD-40DC-88BC-8B02DAB03701}"/>
              </a:ext>
            </a:extLst>
          </p:cNvPr>
          <p:cNvCxnSpPr>
            <a:stCxn xmlns:a="http://schemas.openxmlformats.org/drawingml/2006/main" id="6" idx="3"/>
            <a:endCxn xmlns:a="http://schemas.openxmlformats.org/drawingml/2006/main" id="9" idx="1"/>
          </p:cNvCxnSpPr>
          <p:nvPr/>
        </p:nvCxnSpPr>
        <p:spPr>
          <a:xfrm xmlns:a="http://schemas.openxmlformats.org/drawingml/2006/main">
            <a:off x="3048000" y="3000375"/>
            <a:ext cx="7048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49" name="">
            <a:extLst xmlns:a="http://schemas.openxmlformats.org/drawingml/2006/main">
              <a:ext uri="{FF2B5EF4-FFF2-40B4-BE49-F238E27FC236}">
                <a16:creationId xmlns:a16="http://schemas.microsoft.com/office/drawing/2014/main" id="{97CC35E8-3642-4FC9-9FC1-342C5F3FCAF6}"/>
              </a:ext>
            </a:extLst>
          </p:cNvPr>
          <p:cNvCxnSpPr>
            <a:stCxn xmlns:a="http://schemas.openxmlformats.org/drawingml/2006/main" id="9" idx="3"/>
            <a:endCxn xmlns:a="http://schemas.openxmlformats.org/drawingml/2006/main" id="12" idx="1"/>
          </p:cNvCxnSpPr>
          <p:nvPr/>
        </p:nvCxnSpPr>
        <p:spPr>
          <a:xfrm xmlns:a="http://schemas.openxmlformats.org/drawingml/2006/main">
            <a:off x="6134100" y="3000375"/>
            <a:ext cx="7048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0" name="">
            <a:extLst xmlns:a="http://schemas.openxmlformats.org/drawingml/2006/main">
              <a:ext uri="{FF2B5EF4-FFF2-40B4-BE49-F238E27FC236}">
                <a16:creationId xmlns:a16="http://schemas.microsoft.com/office/drawing/2014/main" id="{359B3597-EBAE-4BAC-A2A6-15BE17D9C2B1}"/>
              </a:ext>
            </a:extLst>
          </p:cNvPr>
          <p:cNvCxnSpPr>
            <a:stCxn xmlns:a="http://schemas.openxmlformats.org/drawingml/2006/main" id="12" idx="3"/>
            <a:endCxn xmlns:a="http://schemas.openxmlformats.org/drawingml/2006/main" id="15" idx="1"/>
          </p:cNvCxnSpPr>
          <p:nvPr/>
        </p:nvCxnSpPr>
        <p:spPr>
          <a:xfrm xmlns:a="http://schemas.openxmlformats.org/drawingml/2006/main">
            <a:off x="9220200" y="3000375"/>
            <a:ext cx="6667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sp>
        <p:nvSpPr>
          <p:cNvPr id="21" name="">
            <a:extLst xmlns:a="http://schemas.openxmlformats.org/drawingml/2006/main">
              <a:ext uri="{FF2B5EF4-FFF2-40B4-BE49-F238E27FC236}">
                <a16:creationId xmlns:a16="http://schemas.microsoft.com/office/drawing/2014/main" id="{EDCDA85D-48CD-48EF-A0A0-BEBAFCEB22C6}"/>
              </a:ext>
            </a:extLst>
          </p:cNvPr>
          <p:cNvSpPr>
            <a:spLocks xmlns:a="http://schemas.openxmlformats.org/drawingml/2006/main" noGrp="1"/>
          </p:cNvSpPr>
          <p:nvPr/>
        </p:nvSpPr>
        <p:spPr>
          <a:xfrm xmlns:a="http://schemas.openxmlformats.org/drawingml/2006/main">
            <a:off x="3143250" y="4419600"/>
            <a:ext cx="1619250" cy="723900"/>
          </a:xfrm>
          <a:prstGeom xmlns:a="http://schemas.openxmlformats.org/drawingml/2006/main" prst="roundRect">
            <a:avLst>
              <a:gd name="adj" fmla="val 10526"/>
            </a:avLst>
          </a:prstGeom>
          <a:ln xmlns:a="http://schemas.openxmlformats.org/drawingml/2006/main" w="11430">
            <a:solidFill>
              <a:srgbClr val="2DD4BF"/>
            </a:solidFill>
            <a:prstDash val="solid"/>
          </a:ln>
        </p:spPr>
      </p:sp>
      <p:sp>
        <p:nvSpPr>
          <p:cNvPr id="22" name="">
            <a:extLst xmlns:a="http://schemas.openxmlformats.org/drawingml/2006/main">
              <a:ext uri="{FF2B5EF4-FFF2-40B4-BE49-F238E27FC236}">
                <a16:creationId xmlns:a16="http://schemas.microsoft.com/office/drawing/2014/main" id="{F20B942D-6002-4E36-978D-885CC2B6CAF3}"/>
              </a:ext>
            </a:extLst>
          </p:cNvPr>
          <p:cNvSpPr>
            <a:spLocks xmlns:a="http://schemas.openxmlformats.org/drawingml/2006/main" noGrp="1"/>
          </p:cNvSpPr>
          <p:nvPr/>
        </p:nvSpPr>
        <p:spPr>
          <a:xfrm xmlns:a="http://schemas.openxmlformats.org/drawingml/2006/main">
            <a:off x="3295650" y="4533900"/>
            <a:ext cx="1314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TOOLS</a:t>
            </a:r>
          </a:p>
        </p:txBody>
      </p:sp>
      <p:sp>
        <p:nvSpPr>
          <p:cNvPr id="23" name="">
            <a:extLst xmlns:a="http://schemas.openxmlformats.org/drawingml/2006/main">
              <a:ext uri="{FF2B5EF4-FFF2-40B4-BE49-F238E27FC236}">
                <a16:creationId xmlns:a16="http://schemas.microsoft.com/office/drawing/2014/main" id="{60C45D0A-4227-4CF3-86E3-B734A1EAE613}"/>
              </a:ext>
            </a:extLst>
          </p:cNvPr>
          <p:cNvSpPr>
            <a:spLocks xmlns:a="http://schemas.openxmlformats.org/drawingml/2006/main" noGrp="1"/>
          </p:cNvSpPr>
          <p:nvPr/>
        </p:nvSpPr>
        <p:spPr>
          <a:xfrm xmlns:a="http://schemas.openxmlformats.org/drawingml/2006/main">
            <a:off x="3314700" y="4819650"/>
            <a:ext cx="1276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buNone/>
              <a:defRPr sz="1350" b="1">
                <a:solidFill>
                  <a:srgbClr val="EDF6FF"/>
                </a:solidFill>
                <a:latin typeface="Aptos"/>
                <a:ea typeface="Aptos"/>
                <a:cs typeface="Aptos"/>
              </a:defRPr>
            </a:pPr>
            <a:r>
              <a:rPr sz="1350" b="1">
                <a:solidFill>
                  <a:srgbClr val="EDF6FF"/>
                </a:solidFill>
                <a:latin typeface="Aptos"/>
                <a:ea typeface="Aptos"/>
                <a:cs typeface="Aptos"/>
              </a:rPr>
              <a:t>Actions</a:t>
            </a:r>
          </a:p>
        </p:txBody>
      </p:sp>
      <p:sp>
        <p:nvSpPr>
          <p:cNvPr id="24" name="">
            <a:extLst xmlns:a="http://schemas.openxmlformats.org/drawingml/2006/main">
              <a:ext uri="{FF2B5EF4-FFF2-40B4-BE49-F238E27FC236}">
                <a16:creationId xmlns:a16="http://schemas.microsoft.com/office/drawing/2014/main" id="{9659BDD7-29D1-49EA-8CF6-60C78C9FEDFB}"/>
              </a:ext>
            </a:extLst>
          </p:cNvPr>
          <p:cNvSpPr>
            <a:spLocks xmlns:a="http://schemas.openxmlformats.org/drawingml/2006/main" noGrp="1"/>
          </p:cNvSpPr>
          <p:nvPr/>
        </p:nvSpPr>
        <p:spPr>
          <a:xfrm xmlns:a="http://schemas.openxmlformats.org/drawingml/2006/main">
            <a:off x="5286375" y="4419600"/>
            <a:ext cx="2000250" cy="723900"/>
          </a:xfrm>
          <a:prstGeom xmlns:a="http://schemas.openxmlformats.org/drawingml/2006/main" prst="roundRect">
            <a:avLst>
              <a:gd name="adj" fmla="val 10526"/>
            </a:avLst>
          </a:prstGeom>
          <a:ln xmlns:a="http://schemas.openxmlformats.org/drawingml/2006/main" w="11430">
            <a:solidFill>
              <a:srgbClr val="2DD4BF"/>
            </a:solidFill>
            <a:prstDash val="solid"/>
          </a:ln>
        </p:spPr>
      </p:sp>
      <p:sp>
        <p:nvSpPr>
          <p:cNvPr id="25" name="">
            <a:extLst xmlns:a="http://schemas.openxmlformats.org/drawingml/2006/main">
              <a:ext uri="{FF2B5EF4-FFF2-40B4-BE49-F238E27FC236}">
                <a16:creationId xmlns:a16="http://schemas.microsoft.com/office/drawing/2014/main" id="{2A95D867-A8AF-4130-AF57-0EC2E20EDCB8}"/>
              </a:ext>
            </a:extLst>
          </p:cNvPr>
          <p:cNvSpPr>
            <a:spLocks xmlns:a="http://schemas.openxmlformats.org/drawingml/2006/main" noGrp="1"/>
          </p:cNvSpPr>
          <p:nvPr/>
        </p:nvSpPr>
        <p:spPr>
          <a:xfrm xmlns:a="http://schemas.openxmlformats.org/drawingml/2006/main">
            <a:off x="5438775" y="4533900"/>
            <a:ext cx="1695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RESOURCES</a:t>
            </a:r>
          </a:p>
        </p:txBody>
      </p:sp>
      <p:sp>
        <p:nvSpPr>
          <p:cNvPr id="26" name="">
            <a:extLst xmlns:a="http://schemas.openxmlformats.org/drawingml/2006/main">
              <a:ext uri="{FF2B5EF4-FFF2-40B4-BE49-F238E27FC236}">
                <a16:creationId xmlns:a16="http://schemas.microsoft.com/office/drawing/2014/main" id="{30F413E9-B9A5-458E-A6D0-92D38D37FEFF}"/>
              </a:ext>
            </a:extLst>
          </p:cNvPr>
          <p:cNvSpPr>
            <a:spLocks xmlns:a="http://schemas.openxmlformats.org/drawingml/2006/main" noGrp="1"/>
          </p:cNvSpPr>
          <p:nvPr/>
        </p:nvSpPr>
        <p:spPr>
          <a:xfrm xmlns:a="http://schemas.openxmlformats.org/drawingml/2006/main">
            <a:off x="5457825" y="4819650"/>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buNone/>
              <a:defRPr sz="1350" b="1">
                <a:solidFill>
                  <a:srgbClr val="EDF6FF"/>
                </a:solidFill>
                <a:latin typeface="Aptos"/>
                <a:ea typeface="Aptos"/>
                <a:cs typeface="Aptos"/>
              </a:defRPr>
            </a:pPr>
            <a:r>
              <a:rPr sz="1350" b="1">
                <a:solidFill>
                  <a:srgbClr val="EDF6FF"/>
                </a:solidFill>
                <a:latin typeface="Aptos"/>
                <a:ea typeface="Aptos"/>
                <a:cs typeface="Aptos"/>
              </a:rPr>
              <a:t>Readable context</a:t>
            </a:r>
          </a:p>
        </p:txBody>
      </p:sp>
      <p:sp>
        <p:nvSpPr>
          <p:cNvPr id="27" name="">
            <a:extLst xmlns:a="http://schemas.openxmlformats.org/drawingml/2006/main">
              <a:ext uri="{FF2B5EF4-FFF2-40B4-BE49-F238E27FC236}">
                <a16:creationId xmlns:a16="http://schemas.microsoft.com/office/drawing/2014/main" id="{17DA48C3-985D-4AAD-9E14-553DD3A4EF83}"/>
              </a:ext>
            </a:extLst>
          </p:cNvPr>
          <p:cNvSpPr>
            <a:spLocks xmlns:a="http://schemas.openxmlformats.org/drawingml/2006/main" noGrp="1"/>
          </p:cNvSpPr>
          <p:nvPr/>
        </p:nvSpPr>
        <p:spPr>
          <a:xfrm xmlns:a="http://schemas.openxmlformats.org/drawingml/2006/main">
            <a:off x="7810500" y="4419600"/>
            <a:ext cx="2000250" cy="723900"/>
          </a:xfrm>
          <a:prstGeom xmlns:a="http://schemas.openxmlformats.org/drawingml/2006/main" prst="roundRect">
            <a:avLst>
              <a:gd name="adj" fmla="val 10526"/>
            </a:avLst>
          </a:prstGeom>
          <a:ln xmlns:a="http://schemas.openxmlformats.org/drawingml/2006/main" w="11430">
            <a:solidFill>
              <a:srgbClr val="2DD4BF"/>
            </a:solidFill>
            <a:prstDash val="solid"/>
          </a:ln>
        </p:spPr>
      </p:sp>
      <p:sp>
        <p:nvSpPr>
          <p:cNvPr id="28" name="">
            <a:extLst xmlns:a="http://schemas.openxmlformats.org/drawingml/2006/main">
              <a:ext uri="{FF2B5EF4-FFF2-40B4-BE49-F238E27FC236}">
                <a16:creationId xmlns:a16="http://schemas.microsoft.com/office/drawing/2014/main" id="{EB79E127-57FD-420C-81F8-CAC9B7A48C91}"/>
              </a:ext>
            </a:extLst>
          </p:cNvPr>
          <p:cNvSpPr>
            <a:spLocks xmlns:a="http://schemas.openxmlformats.org/drawingml/2006/main" noGrp="1"/>
          </p:cNvSpPr>
          <p:nvPr/>
        </p:nvSpPr>
        <p:spPr>
          <a:xfrm xmlns:a="http://schemas.openxmlformats.org/drawingml/2006/main">
            <a:off x="7962900" y="4533900"/>
            <a:ext cx="1695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PROMPTS</a:t>
            </a:r>
          </a:p>
        </p:txBody>
      </p:sp>
      <p:sp>
        <p:nvSpPr>
          <p:cNvPr id="29" name="">
            <a:extLst xmlns:a="http://schemas.openxmlformats.org/drawingml/2006/main">
              <a:ext uri="{FF2B5EF4-FFF2-40B4-BE49-F238E27FC236}">
                <a16:creationId xmlns:a16="http://schemas.microsoft.com/office/drawing/2014/main" id="{0DB743EF-895F-4FAC-B31A-227BECE09D21}"/>
              </a:ext>
            </a:extLst>
          </p:cNvPr>
          <p:cNvSpPr>
            <a:spLocks xmlns:a="http://schemas.openxmlformats.org/drawingml/2006/main" noGrp="1"/>
          </p:cNvSpPr>
          <p:nvPr/>
        </p:nvSpPr>
        <p:spPr>
          <a:xfrm xmlns:a="http://schemas.openxmlformats.org/drawingml/2006/main">
            <a:off x="7981950" y="4819650"/>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buNone/>
              <a:defRPr sz="1350" b="1">
                <a:solidFill>
                  <a:srgbClr val="EDF6FF"/>
                </a:solidFill>
                <a:latin typeface="Aptos"/>
                <a:ea typeface="Aptos"/>
                <a:cs typeface="Aptos"/>
              </a:defRPr>
            </a:pPr>
            <a:r>
              <a:rPr sz="1350" b="1">
                <a:solidFill>
                  <a:srgbClr val="EDF6FF"/>
                </a:solidFill>
                <a:latin typeface="Aptos"/>
                <a:ea typeface="Aptos"/>
                <a:cs typeface="Aptos"/>
              </a:rPr>
              <a:t>Reusable workflows</a:t>
            </a:r>
          </a:p>
        </p:txBody>
      </p:sp>
      <p:sp>
        <p:nvSpPr>
          <p:cNvPr id="30" name="">
            <a:extLst xmlns:a="http://schemas.openxmlformats.org/drawingml/2006/main">
              <a:ext uri="{FF2B5EF4-FFF2-40B4-BE49-F238E27FC236}">
                <a16:creationId xmlns:a16="http://schemas.microsoft.com/office/drawing/2014/main" id="{50204348-711C-407F-AD47-7046987B770D}"/>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02</a:t>
            </a:r>
          </a:p>
        </p:txBody>
      </p:sp>
    </p:spTree>
    <p:extLst>
      <p:ext uri="{BB962C8B-B14F-4D97-AF65-F5344CB8AC3E}">
        <p14:creationId xmlns:p14="http://schemas.microsoft.com/office/powerpoint/2010/main" val="1650353263"/>
      </p:ext>
    </p:extLst>
  </p:cSld>
</p:sld>
</file>

<file path=ppt/slides/slide3.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82BCA51-7B2D-41F8-AB40-C9B49E0E5E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B3E8BB-1A8F-4445-8C8F-7B833D5E14B6}"/>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A8EB4C-84C3-46A6-839D-89403E4120BA}"/>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1D3AED-F1EF-46EB-A8FE-292E0415A4F9}"/>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Client to server lifecycle</a:t>
            </a:r>
          </a:p>
        </p:txBody>
      </p:sp>
      <p:sp>
        <p:nvSpPr>
          <p:cNvPr id="5" name="">
            <a:extLst xmlns:a="http://schemas.openxmlformats.org/drawingml/2006/main">
              <a:ext uri="{FF2B5EF4-FFF2-40B4-BE49-F238E27FC236}">
                <a16:creationId xmlns:a16="http://schemas.microsoft.com/office/drawing/2014/main" id="{AA29BF65-5C94-459C-9EB3-769DD708F594}"/>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Discovery happens before action</a:t>
            </a:r>
          </a:p>
        </p:txBody>
      </p:sp>
      <p:sp>
        <p:nvSpPr>
          <p:cNvPr id="6" name="">
            <a:extLst xmlns:a="http://schemas.openxmlformats.org/drawingml/2006/main">
              <a:ext uri="{FF2B5EF4-FFF2-40B4-BE49-F238E27FC236}">
                <a16:creationId xmlns:a16="http://schemas.microsoft.com/office/drawing/2014/main" id="{1BB591E6-F21F-4F6C-B76C-017C6F572AD5}"/>
              </a:ext>
            </a:extLst>
          </p:cNvPr>
          <p:cNvSpPr>
            <a:spLocks xmlns:a="http://schemas.openxmlformats.org/drawingml/2006/main" noGrp="1"/>
          </p:cNvSpPr>
          <p:nvPr/>
        </p:nvSpPr>
        <p:spPr>
          <a:xfrm xmlns:a="http://schemas.openxmlformats.org/drawingml/2006/main">
            <a:off x="904875" y="2524125"/>
            <a:ext cx="1714500" cy="914400"/>
          </a:xfrm>
          <a:prstGeom xmlns:a="http://schemas.openxmlformats.org/drawingml/2006/main" prst="roundRect">
            <a:avLst>
              <a:gd name="adj" fmla="val 8333"/>
            </a:avLst>
          </a:prstGeom>
          <a:ln xmlns:a="http://schemas.openxmlformats.org/drawingml/2006/main" w="11430">
            <a:solidFill>
              <a:srgbClr val="38BDF8"/>
            </a:solidFill>
            <a:prstDash val="solid"/>
          </a:ln>
        </p:spPr>
      </p:sp>
      <p:sp>
        <p:nvSpPr>
          <p:cNvPr id="7" name="">
            <a:extLst xmlns:a="http://schemas.openxmlformats.org/drawingml/2006/main">
              <a:ext uri="{FF2B5EF4-FFF2-40B4-BE49-F238E27FC236}">
                <a16:creationId xmlns:a16="http://schemas.microsoft.com/office/drawing/2014/main" id="{84AD8293-EF7B-4017-AD18-B603976B4878}"/>
              </a:ext>
            </a:extLst>
          </p:cNvPr>
          <p:cNvSpPr>
            <a:spLocks xmlns:a="http://schemas.openxmlformats.org/drawingml/2006/main" noGrp="1"/>
          </p:cNvSpPr>
          <p:nvPr/>
        </p:nvSpPr>
        <p:spPr>
          <a:xfrm xmlns:a="http://schemas.openxmlformats.org/drawingml/2006/main">
            <a:off x="1057275" y="2638425"/>
            <a:ext cx="140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0B7C8992-0C94-4CA4-B95A-E1DB76CDFFDA}"/>
              </a:ext>
            </a:extLst>
          </p:cNvPr>
          <p:cNvSpPr>
            <a:spLocks xmlns:a="http://schemas.openxmlformats.org/drawingml/2006/main" noGrp="1"/>
          </p:cNvSpPr>
          <p:nvPr/>
        </p:nvSpPr>
        <p:spPr>
          <a:xfrm xmlns:a="http://schemas.openxmlformats.org/drawingml/2006/main">
            <a:off x="1076325" y="2924175"/>
            <a:ext cx="137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800" b="1">
                <a:solidFill>
                  <a:srgbClr val="EDF6FF"/>
                </a:solidFill>
                <a:latin typeface="Aptos"/>
                <a:ea typeface="Aptos"/>
                <a:cs typeface="Aptos"/>
              </a:defRPr>
            </a:pPr>
            <a:r>
              <a:rPr sz="1800" b="1">
                <a:solidFill>
                  <a:srgbClr val="EDF6FF"/>
                </a:solidFill>
                <a:latin typeface="Aptos"/>
                <a:ea typeface="Aptos"/>
                <a:cs typeface="Aptos"/>
              </a:rPr>
              <a:t>Connect</a:t>
            </a:r>
          </a:p>
        </p:txBody>
      </p:sp>
      <p:sp>
        <p:nvSpPr>
          <p:cNvPr id="9" name="">
            <a:extLst xmlns:a="http://schemas.openxmlformats.org/drawingml/2006/main">
              <a:ext uri="{FF2B5EF4-FFF2-40B4-BE49-F238E27FC236}">
                <a16:creationId xmlns:a16="http://schemas.microsoft.com/office/drawing/2014/main" id="{C222C29F-3966-410E-B359-05D89E19BABF}"/>
              </a:ext>
            </a:extLst>
          </p:cNvPr>
          <p:cNvSpPr>
            <a:spLocks xmlns:a="http://schemas.openxmlformats.org/drawingml/2006/main" noGrp="1"/>
          </p:cNvSpPr>
          <p:nvPr/>
        </p:nvSpPr>
        <p:spPr>
          <a:xfrm xmlns:a="http://schemas.openxmlformats.org/drawingml/2006/main">
            <a:off x="3286125" y="2524125"/>
            <a:ext cx="1809750" cy="914400"/>
          </a:xfrm>
          <a:prstGeom xmlns:a="http://schemas.openxmlformats.org/drawingml/2006/main" prst="roundRect">
            <a:avLst>
              <a:gd name="adj" fmla="val 8333"/>
            </a:avLst>
          </a:prstGeom>
          <a:ln xmlns:a="http://schemas.openxmlformats.org/drawingml/2006/main" w="11430">
            <a:solidFill>
              <a:srgbClr val="2DD4BF"/>
            </a:solidFill>
            <a:prstDash val="solid"/>
          </a:ln>
        </p:spPr>
      </p:sp>
      <p:sp>
        <p:nvSpPr>
          <p:cNvPr id="10" name="">
            <a:extLst xmlns:a="http://schemas.openxmlformats.org/drawingml/2006/main">
              <a:ext uri="{FF2B5EF4-FFF2-40B4-BE49-F238E27FC236}">
                <a16:creationId xmlns:a16="http://schemas.microsoft.com/office/drawing/2014/main" id="{064F62BA-6DFB-49B8-A55A-F67F3E7A2ADB}"/>
              </a:ext>
            </a:extLst>
          </p:cNvPr>
          <p:cNvSpPr>
            <a:spLocks xmlns:a="http://schemas.openxmlformats.org/drawingml/2006/main" noGrp="1"/>
          </p:cNvSpPr>
          <p:nvPr/>
        </p:nvSpPr>
        <p:spPr>
          <a:xfrm xmlns:a="http://schemas.openxmlformats.org/drawingml/2006/main">
            <a:off x="3438525" y="2638425"/>
            <a:ext cx="1504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FC2A8378-FC83-4376-AD22-36C0BD1FED98}"/>
              </a:ext>
            </a:extLst>
          </p:cNvPr>
          <p:cNvSpPr>
            <a:spLocks xmlns:a="http://schemas.openxmlformats.org/drawingml/2006/main" noGrp="1"/>
          </p:cNvSpPr>
          <p:nvPr/>
        </p:nvSpPr>
        <p:spPr>
          <a:xfrm xmlns:a="http://schemas.openxmlformats.org/drawingml/2006/main">
            <a:off x="3457575" y="2924175"/>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094"/>
          </a:bodyPr>
          <a:lstStyle xmlns:a="http://schemas.openxmlformats.org/drawingml/2006/main"/>
          <a:p xmlns:a="http://schemas.openxmlformats.org/drawingml/2006/main">
            <a:pPr algn="ctr">
              <a:buNone/>
              <a:defRPr sz="1800" b="1">
                <a:solidFill>
                  <a:srgbClr val="EDF6FF"/>
                </a:solidFill>
                <a:latin typeface="Aptos"/>
                <a:ea typeface="Aptos"/>
                <a:cs typeface="Aptos"/>
              </a:defRPr>
            </a:pPr>
            <a:r>
              <a:rPr sz="1800" b="1">
                <a:solidFill>
                  <a:srgbClr val="EDF6FF"/>
                </a:solidFill>
                <a:latin typeface="Aptos"/>
                <a:ea typeface="Aptos"/>
                <a:cs typeface="Aptos"/>
              </a:rPr>
              <a:t>Discover tools</a:t>
            </a:r>
          </a:p>
        </p:txBody>
      </p:sp>
      <p:sp>
        <p:nvSpPr>
          <p:cNvPr id="12" name="">
            <a:extLst xmlns:a="http://schemas.openxmlformats.org/drawingml/2006/main">
              <a:ext uri="{FF2B5EF4-FFF2-40B4-BE49-F238E27FC236}">
                <a16:creationId xmlns:a16="http://schemas.microsoft.com/office/drawing/2014/main" id="{DC1AF657-38F0-4250-BC83-A7CE9CF7C6AE}"/>
              </a:ext>
            </a:extLst>
          </p:cNvPr>
          <p:cNvSpPr>
            <a:spLocks xmlns:a="http://schemas.openxmlformats.org/drawingml/2006/main" noGrp="1"/>
          </p:cNvSpPr>
          <p:nvPr/>
        </p:nvSpPr>
        <p:spPr>
          <a:xfrm xmlns:a="http://schemas.openxmlformats.org/drawingml/2006/main">
            <a:off x="5762625" y="2524125"/>
            <a:ext cx="1809750" cy="914400"/>
          </a:xfrm>
          <a:prstGeom xmlns:a="http://schemas.openxmlformats.org/drawingml/2006/main" prst="roundRect">
            <a:avLst>
              <a:gd name="adj" fmla="val 8333"/>
            </a:avLst>
          </a:prstGeom>
          <a:ln xmlns:a="http://schemas.openxmlformats.org/drawingml/2006/main" w="11430">
            <a:solidFill>
              <a:srgbClr val="4ADE80"/>
            </a:solidFill>
            <a:prstDash val="solid"/>
          </a:ln>
        </p:spPr>
      </p:sp>
      <p:sp>
        <p:nvSpPr>
          <p:cNvPr id="13" name="">
            <a:extLst xmlns:a="http://schemas.openxmlformats.org/drawingml/2006/main">
              <a:ext uri="{FF2B5EF4-FFF2-40B4-BE49-F238E27FC236}">
                <a16:creationId xmlns:a16="http://schemas.microsoft.com/office/drawing/2014/main" id="{75BFF132-C001-4C4B-ABE8-4DE5A8FC8479}"/>
              </a:ext>
            </a:extLst>
          </p:cNvPr>
          <p:cNvSpPr>
            <a:spLocks xmlns:a="http://schemas.openxmlformats.org/drawingml/2006/main" noGrp="1"/>
          </p:cNvSpPr>
          <p:nvPr/>
        </p:nvSpPr>
        <p:spPr>
          <a:xfrm xmlns:a="http://schemas.openxmlformats.org/drawingml/2006/main">
            <a:off x="5915025" y="2638425"/>
            <a:ext cx="1504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26A173C4-5732-4CD2-9D97-0F67C310F447}"/>
              </a:ext>
            </a:extLst>
          </p:cNvPr>
          <p:cNvSpPr>
            <a:spLocks xmlns:a="http://schemas.openxmlformats.org/drawingml/2006/main" noGrp="1"/>
          </p:cNvSpPr>
          <p:nvPr/>
        </p:nvSpPr>
        <p:spPr>
          <a:xfrm xmlns:a="http://schemas.openxmlformats.org/drawingml/2006/main">
            <a:off x="5934075" y="2924175"/>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800" b="1">
                <a:solidFill>
                  <a:srgbClr val="EDF6FF"/>
                </a:solidFill>
                <a:latin typeface="Aptos"/>
                <a:ea typeface="Aptos"/>
                <a:cs typeface="Aptos"/>
              </a:defRPr>
            </a:pPr>
            <a:r>
              <a:rPr sz="1800" b="1">
                <a:solidFill>
                  <a:srgbClr val="EDF6FF"/>
                </a:solidFill>
                <a:latin typeface="Aptos"/>
                <a:ea typeface="Aptos"/>
                <a:cs typeface="Aptos"/>
              </a:rPr>
              <a:t>Call a tool</a:t>
            </a:r>
          </a:p>
        </p:txBody>
      </p:sp>
      <p:sp>
        <p:nvSpPr>
          <p:cNvPr id="15" name="">
            <a:extLst xmlns:a="http://schemas.openxmlformats.org/drawingml/2006/main">
              <a:ext uri="{FF2B5EF4-FFF2-40B4-BE49-F238E27FC236}">
                <a16:creationId xmlns:a16="http://schemas.microsoft.com/office/drawing/2014/main" id="{E035892E-E838-4691-9C8E-604FC93F6116}"/>
              </a:ext>
            </a:extLst>
          </p:cNvPr>
          <p:cNvSpPr>
            <a:spLocks xmlns:a="http://schemas.openxmlformats.org/drawingml/2006/main" noGrp="1"/>
          </p:cNvSpPr>
          <p:nvPr/>
        </p:nvSpPr>
        <p:spPr>
          <a:xfrm xmlns:a="http://schemas.openxmlformats.org/drawingml/2006/main">
            <a:off x="8239125" y="2524125"/>
            <a:ext cx="1809750" cy="914400"/>
          </a:xfrm>
          <a:prstGeom xmlns:a="http://schemas.openxmlformats.org/drawingml/2006/main" prst="roundRect">
            <a:avLst>
              <a:gd name="adj" fmla="val 8333"/>
            </a:avLst>
          </a:prstGeom>
          <a:ln xmlns:a="http://schemas.openxmlformats.org/drawingml/2006/main" w="11430">
            <a:solidFill>
              <a:srgbClr val="38BDF8"/>
            </a:solidFill>
            <a:prstDash val="solid"/>
          </a:ln>
        </p:spPr>
      </p:sp>
      <p:sp>
        <p:nvSpPr>
          <p:cNvPr id="16" name="">
            <a:extLst xmlns:a="http://schemas.openxmlformats.org/drawingml/2006/main">
              <a:ext uri="{FF2B5EF4-FFF2-40B4-BE49-F238E27FC236}">
                <a16:creationId xmlns:a16="http://schemas.microsoft.com/office/drawing/2014/main" id="{CDBA6C60-127A-459B-AB06-E8BB50642E37}"/>
              </a:ext>
            </a:extLst>
          </p:cNvPr>
          <p:cNvSpPr>
            <a:spLocks xmlns:a="http://schemas.openxmlformats.org/drawingml/2006/main" noGrp="1"/>
          </p:cNvSpPr>
          <p:nvPr/>
        </p:nvSpPr>
        <p:spPr>
          <a:xfrm xmlns:a="http://schemas.openxmlformats.org/drawingml/2006/main">
            <a:off x="8391525" y="2638425"/>
            <a:ext cx="1504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B0C56E5A-6403-48E2-8D49-CA280E533135}"/>
              </a:ext>
            </a:extLst>
          </p:cNvPr>
          <p:cNvSpPr>
            <a:spLocks xmlns:a="http://schemas.openxmlformats.org/drawingml/2006/main" noGrp="1"/>
          </p:cNvSpPr>
          <p:nvPr/>
        </p:nvSpPr>
        <p:spPr>
          <a:xfrm xmlns:a="http://schemas.openxmlformats.org/drawingml/2006/main">
            <a:off x="8410575" y="2924175"/>
            <a:ext cx="146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748"/>
          </a:bodyPr>
          <a:lstStyle xmlns:a="http://schemas.openxmlformats.org/drawingml/2006/main"/>
          <a:p xmlns:a="http://schemas.openxmlformats.org/drawingml/2006/main">
            <a:pPr algn="ctr">
              <a:buNone/>
              <a:defRPr sz="1800" b="1">
                <a:solidFill>
                  <a:srgbClr val="EDF6FF"/>
                </a:solidFill>
                <a:latin typeface="Aptos"/>
                <a:ea typeface="Aptos"/>
                <a:cs typeface="Aptos"/>
              </a:defRPr>
            </a:pPr>
            <a:r>
              <a:rPr sz="1800" b="1">
                <a:solidFill>
                  <a:srgbClr val="EDF6FF"/>
                </a:solidFill>
                <a:latin typeface="Aptos"/>
                <a:ea typeface="Aptos"/>
                <a:cs typeface="Aptos"/>
              </a:rPr>
              <a:t>Return result</a:t>
            </a:r>
          </a:p>
        </p:txBody>
      </p:sp>
      <p:cxnSp>
        <p:nvCxnSpPr>
          <p:cNvPr id="41" name="">
            <a:extLst xmlns:a="http://schemas.openxmlformats.org/drawingml/2006/main">
              <a:ext uri="{FF2B5EF4-FFF2-40B4-BE49-F238E27FC236}">
                <a16:creationId xmlns:a16="http://schemas.microsoft.com/office/drawing/2014/main" id="{86AED84C-87A9-4B18-B63D-EF7DA7E99EEA}"/>
              </a:ext>
            </a:extLst>
          </p:cNvPr>
          <p:cNvCxnSpPr>
            <a:stCxn xmlns:a="http://schemas.openxmlformats.org/drawingml/2006/main" id="6" idx="3"/>
            <a:endCxn xmlns:a="http://schemas.openxmlformats.org/drawingml/2006/main" id="9" idx="1"/>
          </p:cNvCxnSpPr>
          <p:nvPr/>
        </p:nvCxnSpPr>
        <p:spPr>
          <a:xfrm xmlns:a="http://schemas.openxmlformats.org/drawingml/2006/main">
            <a:off x="2619375" y="2981325"/>
            <a:ext cx="6667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42" name="">
            <a:extLst xmlns:a="http://schemas.openxmlformats.org/drawingml/2006/main">
              <a:ext uri="{FF2B5EF4-FFF2-40B4-BE49-F238E27FC236}">
                <a16:creationId xmlns:a16="http://schemas.microsoft.com/office/drawing/2014/main" id="{5388EEB0-4ED7-44E7-806F-4A00C4C2861A}"/>
              </a:ext>
            </a:extLst>
          </p:cNvPr>
          <p:cNvCxnSpPr>
            <a:stCxn xmlns:a="http://schemas.openxmlformats.org/drawingml/2006/main" id="9" idx="3"/>
            <a:endCxn xmlns:a="http://schemas.openxmlformats.org/drawingml/2006/main" id="12" idx="1"/>
          </p:cNvCxnSpPr>
          <p:nvPr/>
        </p:nvCxnSpPr>
        <p:spPr>
          <a:xfrm xmlns:a="http://schemas.openxmlformats.org/drawingml/2006/main">
            <a:off x="5095875" y="2981325"/>
            <a:ext cx="6667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43" name="">
            <a:extLst xmlns:a="http://schemas.openxmlformats.org/drawingml/2006/main">
              <a:ext uri="{FF2B5EF4-FFF2-40B4-BE49-F238E27FC236}">
                <a16:creationId xmlns:a16="http://schemas.microsoft.com/office/drawing/2014/main" id="{8AF7097E-D8ED-4AAB-8738-7237667B038B}"/>
              </a:ext>
            </a:extLst>
          </p:cNvPr>
          <p:cNvCxnSpPr>
            <a:stCxn xmlns:a="http://schemas.openxmlformats.org/drawingml/2006/main" id="12" idx="3"/>
            <a:endCxn xmlns:a="http://schemas.openxmlformats.org/drawingml/2006/main" id="15" idx="1"/>
          </p:cNvCxnSpPr>
          <p:nvPr/>
        </p:nvCxnSpPr>
        <p:spPr>
          <a:xfrm xmlns:a="http://schemas.openxmlformats.org/drawingml/2006/main">
            <a:off x="7572375" y="2981325"/>
            <a:ext cx="6667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sp>
        <p:nvSpPr>
          <p:cNvPr id="21" name="">
            <a:extLst xmlns:a="http://schemas.openxmlformats.org/drawingml/2006/main">
              <a:ext uri="{FF2B5EF4-FFF2-40B4-BE49-F238E27FC236}">
                <a16:creationId xmlns:a16="http://schemas.microsoft.com/office/drawing/2014/main" id="{F7FAA3D1-1E02-41F9-88DA-C035E4762248}"/>
              </a:ext>
            </a:extLst>
          </p:cNvPr>
          <p:cNvSpPr>
            <a:spLocks xmlns:a="http://schemas.openxmlformats.org/drawingml/2006/main" noGrp="1"/>
          </p:cNvSpPr>
          <p:nvPr/>
        </p:nvSpPr>
        <p:spPr>
          <a:xfrm xmlns:a="http://schemas.openxmlformats.org/drawingml/2006/main">
            <a:off x="2190750" y="42862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026"/>
          </a:bodyPr>
          <a:lstStyle xmlns:a="http://schemas.openxmlformats.org/drawingml/2006/main"/>
          <a:p xmlns:a="http://schemas.openxmlformats.org/drawingml/2006/main">
            <a:pPr algn="ctr">
              <a:buNone/>
              <a:defRPr sz="1950" b="1">
                <a:solidFill>
                  <a:srgbClr val="EDF6FF"/>
                </a:solidFill>
                <a:latin typeface="Aptos"/>
                <a:ea typeface="Aptos"/>
                <a:cs typeface="Aptos"/>
              </a:defRPr>
            </a:pPr>
            <a:r>
              <a:rPr sz="1950" b="1">
                <a:solidFill>
                  <a:srgbClr val="EDF6FF"/>
                </a:solidFill>
                <a:latin typeface="Aptos"/>
                <a:ea typeface="Aptos"/>
                <a:cs typeface="Aptos"/>
              </a:rPr>
              <a:t>The client does not need to know how the server gets the data</a:t>
            </a:r>
          </a:p>
        </p:txBody>
      </p:sp>
      <p:sp>
        <p:nvSpPr>
          <p:cNvPr id="22" name="">
            <a:extLst xmlns:a="http://schemas.openxmlformats.org/drawingml/2006/main">
              <a:ext uri="{FF2B5EF4-FFF2-40B4-BE49-F238E27FC236}">
                <a16:creationId xmlns:a16="http://schemas.microsoft.com/office/drawing/2014/main" id="{525DB08F-138D-48B7-B7E3-5917C8DD7A8D}"/>
              </a:ext>
            </a:extLst>
          </p:cNvPr>
          <p:cNvSpPr>
            <a:spLocks xmlns:a="http://schemas.openxmlformats.org/drawingml/2006/main" noGrp="1"/>
          </p:cNvSpPr>
          <p:nvPr/>
        </p:nvSpPr>
        <p:spPr>
          <a:xfrm xmlns:a="http://schemas.openxmlformats.org/drawingml/2006/main">
            <a:off x="2381250" y="4762500"/>
            <a:ext cx="742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350" b="0">
                <a:solidFill>
                  <a:srgbClr val="9AAABC"/>
                </a:solidFill>
                <a:latin typeface="Aptos"/>
                <a:ea typeface="Aptos"/>
                <a:cs typeface="Aptos"/>
              </a:defRPr>
            </a:pPr>
            <a:r>
              <a:rPr sz="1350" b="0">
                <a:solidFill>
                  <a:srgbClr val="9AAABC"/>
                </a:solidFill>
                <a:latin typeface="Aptos"/>
                <a:ea typeface="Aptos"/>
                <a:cs typeface="Aptos"/>
              </a:rPr>
              <a:t>It only needs the server contract: available tools, expected inputs, and structured outputs</a:t>
            </a:r>
          </a:p>
        </p:txBody>
      </p:sp>
      <p:sp>
        <p:nvSpPr>
          <p:cNvPr id="23" name="">
            <a:extLst xmlns:a="http://schemas.openxmlformats.org/drawingml/2006/main">
              <a:ext uri="{FF2B5EF4-FFF2-40B4-BE49-F238E27FC236}">
                <a16:creationId xmlns:a16="http://schemas.microsoft.com/office/drawing/2014/main" id="{048800D9-D512-4983-A1A8-3A8A88246EA6}"/>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03</a:t>
            </a:r>
          </a:p>
        </p:txBody>
      </p:sp>
    </p:spTree>
    <p:extLst>
      <p:ext uri="{BB962C8B-B14F-4D97-AF65-F5344CB8AC3E}">
        <p14:creationId xmlns:p14="http://schemas.microsoft.com/office/powerpoint/2010/main" val="450199230"/>
      </p:ext>
    </p:extLst>
  </p:cSld>
</p:sld>
</file>

<file path=ppt/slides/slide4.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7C56F39-6764-4641-9A6C-3987B4A87E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676EBF-7D35-4EC9-8E17-344488F6C637}"/>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D6D3D0-232F-46A3-BEA7-D8E5C78CF102}"/>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78857F-03A3-43E3-A1CC-0238C9573191}"/>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Why MCP matters</a:t>
            </a:r>
          </a:p>
        </p:txBody>
      </p:sp>
      <p:sp>
        <p:nvSpPr>
          <p:cNvPr id="5" name="">
            <a:extLst xmlns:a="http://schemas.openxmlformats.org/drawingml/2006/main">
              <a:ext uri="{FF2B5EF4-FFF2-40B4-BE49-F238E27FC236}">
                <a16:creationId xmlns:a16="http://schemas.microsoft.com/office/drawing/2014/main" id="{653D8F9C-D2A1-41DF-9335-3A5906BD192E}"/>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One capability layer can support many clients</a:t>
            </a:r>
          </a:p>
        </p:txBody>
      </p:sp>
      <p:sp>
        <p:nvSpPr>
          <p:cNvPr id="6" name="">
            <a:extLst xmlns:a="http://schemas.openxmlformats.org/drawingml/2006/main">
              <a:ext uri="{FF2B5EF4-FFF2-40B4-BE49-F238E27FC236}">
                <a16:creationId xmlns:a16="http://schemas.microsoft.com/office/drawing/2014/main" id="{24F04906-C113-4F92-A1D0-FF966D736ADD}"/>
              </a:ext>
            </a:extLst>
          </p:cNvPr>
          <p:cNvSpPr>
            <a:spLocks xmlns:a="http://schemas.openxmlformats.org/drawingml/2006/main" noGrp="1"/>
          </p:cNvSpPr>
          <p:nvPr/>
        </p:nvSpPr>
        <p:spPr>
          <a:xfrm xmlns:a="http://schemas.openxmlformats.org/drawingml/2006/main">
            <a:off x="4572000" y="2571750"/>
            <a:ext cx="3048000" cy="1352550"/>
          </a:xfrm>
          <a:prstGeom xmlns:a="http://schemas.openxmlformats.org/drawingml/2006/main" prst="roundRect">
            <a:avLst>
              <a:gd name="adj" fmla="val 5634"/>
            </a:avLst>
          </a:prstGeom>
          <a:ln xmlns:a="http://schemas.openxmlformats.org/drawingml/2006/main" w="11430">
            <a:solidFill>
              <a:srgbClr val="2DD4BF"/>
            </a:solidFill>
            <a:prstDash val="solid"/>
          </a:ln>
        </p:spPr>
      </p:sp>
      <p:sp>
        <p:nvSpPr>
          <p:cNvPr id="7" name="">
            <a:extLst xmlns:a="http://schemas.openxmlformats.org/drawingml/2006/main">
              <a:ext uri="{FF2B5EF4-FFF2-40B4-BE49-F238E27FC236}">
                <a16:creationId xmlns:a16="http://schemas.microsoft.com/office/drawing/2014/main" id="{AEDE2880-EEA6-4C37-8D4F-14152CD0B68B}"/>
              </a:ext>
            </a:extLst>
          </p:cNvPr>
          <p:cNvSpPr>
            <a:spLocks xmlns:a="http://schemas.openxmlformats.org/drawingml/2006/main" noGrp="1"/>
          </p:cNvSpPr>
          <p:nvPr/>
        </p:nvSpPr>
        <p:spPr>
          <a:xfrm xmlns:a="http://schemas.openxmlformats.org/drawingml/2006/main">
            <a:off x="4724400" y="2686050"/>
            <a:ext cx="274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MCP SERVER</a:t>
            </a:r>
          </a:p>
        </p:txBody>
      </p:sp>
      <p:sp>
        <p:nvSpPr>
          <p:cNvPr id="8" name="">
            <a:extLst xmlns:a="http://schemas.openxmlformats.org/drawingml/2006/main">
              <a:ext uri="{FF2B5EF4-FFF2-40B4-BE49-F238E27FC236}">
                <a16:creationId xmlns:a16="http://schemas.microsoft.com/office/drawing/2014/main" id="{3A9A21A2-7E79-48E0-932D-EE93CADD7D7D}"/>
              </a:ext>
            </a:extLst>
          </p:cNvPr>
          <p:cNvSpPr>
            <a:spLocks xmlns:a="http://schemas.openxmlformats.org/drawingml/2006/main" noGrp="1"/>
          </p:cNvSpPr>
          <p:nvPr/>
        </p:nvSpPr>
        <p:spPr>
          <a:xfrm xmlns:a="http://schemas.openxmlformats.org/drawingml/2006/main">
            <a:off x="4743450" y="2971800"/>
            <a:ext cx="270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950" b="1">
                <a:solidFill>
                  <a:srgbClr val="EDF6FF"/>
                </a:solidFill>
                <a:latin typeface="Aptos"/>
                <a:ea typeface="Aptos"/>
                <a:cs typeface="Aptos"/>
              </a:defRPr>
            </a:pPr>
            <a:r>
              <a:rPr sz="1950" b="1">
                <a:solidFill>
                  <a:srgbClr val="EDF6FF"/>
                </a:solidFill>
                <a:latin typeface="Aptos"/>
                <a:ea typeface="Aptos"/>
                <a:cs typeface="Aptos"/>
              </a:rPr>
              <a:t>Stable capability contract</a:t>
            </a:r>
          </a:p>
        </p:txBody>
      </p:sp>
      <p:sp>
        <p:nvSpPr>
          <p:cNvPr id="9" name="">
            <a:extLst xmlns:a="http://schemas.openxmlformats.org/drawingml/2006/main">
              <a:ext uri="{FF2B5EF4-FFF2-40B4-BE49-F238E27FC236}">
                <a16:creationId xmlns:a16="http://schemas.microsoft.com/office/drawing/2014/main" id="{8C3C0139-4456-4618-964E-152C3E179AE3}"/>
              </a:ext>
            </a:extLst>
          </p:cNvPr>
          <p:cNvSpPr>
            <a:spLocks xmlns:a="http://schemas.openxmlformats.org/drawingml/2006/main" noGrp="1"/>
          </p:cNvSpPr>
          <p:nvPr/>
        </p:nvSpPr>
        <p:spPr>
          <a:xfrm xmlns:a="http://schemas.openxmlformats.org/drawingml/2006/main">
            <a:off x="904875" y="1562100"/>
            <a:ext cx="1905000" cy="781050"/>
          </a:xfrm>
          <a:prstGeom xmlns:a="http://schemas.openxmlformats.org/drawingml/2006/main" prst="roundRect">
            <a:avLst>
              <a:gd name="adj" fmla="val 9756"/>
            </a:avLst>
          </a:prstGeom>
          <a:ln xmlns:a="http://schemas.openxmlformats.org/drawingml/2006/main" w="11430">
            <a:solidFill>
              <a:srgbClr val="38BDF8"/>
            </a:solidFill>
            <a:prstDash val="solid"/>
          </a:ln>
        </p:spPr>
      </p:sp>
      <p:sp>
        <p:nvSpPr>
          <p:cNvPr id="10" name="">
            <a:extLst xmlns:a="http://schemas.openxmlformats.org/drawingml/2006/main">
              <a:ext uri="{FF2B5EF4-FFF2-40B4-BE49-F238E27FC236}">
                <a16:creationId xmlns:a16="http://schemas.microsoft.com/office/drawing/2014/main" id="{095A690A-6E64-4734-A8C4-CB7FC5C37973}"/>
              </a:ext>
            </a:extLst>
          </p:cNvPr>
          <p:cNvSpPr>
            <a:spLocks xmlns:a="http://schemas.openxmlformats.org/drawingml/2006/main" noGrp="1"/>
          </p:cNvSpPr>
          <p:nvPr/>
        </p:nvSpPr>
        <p:spPr>
          <a:xfrm xmlns:a="http://schemas.openxmlformats.org/drawingml/2006/main">
            <a:off x="1057275" y="167640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a:t>
            </a:r>
          </a:p>
        </p:txBody>
      </p:sp>
      <p:sp>
        <p:nvSpPr>
          <p:cNvPr id="11" name="">
            <a:extLst xmlns:a="http://schemas.openxmlformats.org/drawingml/2006/main">
              <a:ext uri="{FF2B5EF4-FFF2-40B4-BE49-F238E27FC236}">
                <a16:creationId xmlns:a16="http://schemas.microsoft.com/office/drawing/2014/main" id="{F95A7929-54D7-42DF-BFC8-A37782D05E48}"/>
              </a:ext>
            </a:extLst>
          </p:cNvPr>
          <p:cNvSpPr>
            <a:spLocks xmlns:a="http://schemas.openxmlformats.org/drawingml/2006/main" noGrp="1"/>
          </p:cNvSpPr>
          <p:nvPr/>
        </p:nvSpPr>
        <p:spPr>
          <a:xfrm xmlns:a="http://schemas.openxmlformats.org/drawingml/2006/main">
            <a:off x="1076325" y="1962150"/>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Web app</a:t>
            </a:r>
          </a:p>
        </p:txBody>
      </p:sp>
      <p:sp>
        <p:nvSpPr>
          <p:cNvPr id="12" name="">
            <a:extLst xmlns:a="http://schemas.openxmlformats.org/drawingml/2006/main">
              <a:ext uri="{FF2B5EF4-FFF2-40B4-BE49-F238E27FC236}">
                <a16:creationId xmlns:a16="http://schemas.microsoft.com/office/drawing/2014/main" id="{D339ED7C-D643-4033-BEC0-5B4EAB7A432B}"/>
              </a:ext>
            </a:extLst>
          </p:cNvPr>
          <p:cNvSpPr>
            <a:spLocks xmlns:a="http://schemas.openxmlformats.org/drawingml/2006/main" noGrp="1"/>
          </p:cNvSpPr>
          <p:nvPr/>
        </p:nvSpPr>
        <p:spPr>
          <a:xfrm xmlns:a="http://schemas.openxmlformats.org/drawingml/2006/main">
            <a:off x="904875" y="4286250"/>
            <a:ext cx="1905000" cy="781050"/>
          </a:xfrm>
          <a:prstGeom xmlns:a="http://schemas.openxmlformats.org/drawingml/2006/main" prst="roundRect">
            <a:avLst>
              <a:gd name="adj" fmla="val 9756"/>
            </a:avLst>
          </a:prstGeom>
          <a:ln xmlns:a="http://schemas.openxmlformats.org/drawingml/2006/main" w="11430">
            <a:solidFill>
              <a:srgbClr val="38BDF8"/>
            </a:solidFill>
            <a:prstDash val="solid"/>
          </a:ln>
        </p:spPr>
      </p:sp>
      <p:sp>
        <p:nvSpPr>
          <p:cNvPr id="13" name="">
            <a:extLst xmlns:a="http://schemas.openxmlformats.org/drawingml/2006/main">
              <a:ext uri="{FF2B5EF4-FFF2-40B4-BE49-F238E27FC236}">
                <a16:creationId xmlns:a16="http://schemas.microsoft.com/office/drawing/2014/main" id="{1B6DE6E0-8E69-4B98-9155-E8C34BA27024}"/>
              </a:ext>
            </a:extLst>
          </p:cNvPr>
          <p:cNvSpPr>
            <a:spLocks xmlns:a="http://schemas.openxmlformats.org/drawingml/2006/main" noGrp="1"/>
          </p:cNvSpPr>
          <p:nvPr/>
        </p:nvSpPr>
        <p:spPr>
          <a:xfrm xmlns:a="http://schemas.openxmlformats.org/drawingml/2006/main">
            <a:off x="1057275" y="44005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a:t>
            </a:r>
          </a:p>
        </p:txBody>
      </p:sp>
      <p:sp>
        <p:nvSpPr>
          <p:cNvPr id="14" name="">
            <a:extLst xmlns:a="http://schemas.openxmlformats.org/drawingml/2006/main">
              <a:ext uri="{FF2B5EF4-FFF2-40B4-BE49-F238E27FC236}">
                <a16:creationId xmlns:a16="http://schemas.microsoft.com/office/drawing/2014/main" id="{7D2C7A0D-162D-47D4-BEFD-D68FC88473BF}"/>
              </a:ext>
            </a:extLst>
          </p:cNvPr>
          <p:cNvSpPr>
            <a:spLocks xmlns:a="http://schemas.openxmlformats.org/drawingml/2006/main" noGrp="1"/>
          </p:cNvSpPr>
          <p:nvPr/>
        </p:nvSpPr>
        <p:spPr>
          <a:xfrm xmlns:a="http://schemas.openxmlformats.org/drawingml/2006/main">
            <a:off x="1076325" y="4686300"/>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CLI demo</a:t>
            </a:r>
          </a:p>
        </p:txBody>
      </p:sp>
      <p:sp>
        <p:nvSpPr>
          <p:cNvPr id="15" name="">
            <a:extLst xmlns:a="http://schemas.openxmlformats.org/drawingml/2006/main">
              <a:ext uri="{FF2B5EF4-FFF2-40B4-BE49-F238E27FC236}">
                <a16:creationId xmlns:a16="http://schemas.microsoft.com/office/drawing/2014/main" id="{E2288B05-0EB7-4D3D-9806-15F1FB9EB6CD}"/>
              </a:ext>
            </a:extLst>
          </p:cNvPr>
          <p:cNvSpPr>
            <a:spLocks xmlns:a="http://schemas.openxmlformats.org/drawingml/2006/main" noGrp="1"/>
          </p:cNvSpPr>
          <p:nvPr/>
        </p:nvSpPr>
        <p:spPr>
          <a:xfrm xmlns:a="http://schemas.openxmlformats.org/drawingml/2006/main">
            <a:off x="9429750" y="1562100"/>
            <a:ext cx="1905000" cy="781050"/>
          </a:xfrm>
          <a:prstGeom xmlns:a="http://schemas.openxmlformats.org/drawingml/2006/main" prst="roundRect">
            <a:avLst>
              <a:gd name="adj" fmla="val 9756"/>
            </a:avLst>
          </a:prstGeom>
          <a:ln xmlns:a="http://schemas.openxmlformats.org/drawingml/2006/main" w="11430">
            <a:solidFill>
              <a:srgbClr val="38BDF8"/>
            </a:solidFill>
            <a:prstDash val="solid"/>
          </a:ln>
        </p:spPr>
      </p:sp>
      <p:sp>
        <p:nvSpPr>
          <p:cNvPr id="16" name="">
            <a:extLst xmlns:a="http://schemas.openxmlformats.org/drawingml/2006/main">
              <a:ext uri="{FF2B5EF4-FFF2-40B4-BE49-F238E27FC236}">
                <a16:creationId xmlns:a16="http://schemas.microsoft.com/office/drawing/2014/main" id="{2030BE18-C60E-4064-8EF8-56A835C6EB4F}"/>
              </a:ext>
            </a:extLst>
          </p:cNvPr>
          <p:cNvSpPr>
            <a:spLocks xmlns:a="http://schemas.openxmlformats.org/drawingml/2006/main" noGrp="1"/>
          </p:cNvSpPr>
          <p:nvPr/>
        </p:nvSpPr>
        <p:spPr>
          <a:xfrm xmlns:a="http://schemas.openxmlformats.org/drawingml/2006/main">
            <a:off x="9582150" y="167640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a:t>
            </a:r>
          </a:p>
        </p:txBody>
      </p:sp>
      <p:sp>
        <p:nvSpPr>
          <p:cNvPr id="17" name="">
            <a:extLst xmlns:a="http://schemas.openxmlformats.org/drawingml/2006/main">
              <a:ext uri="{FF2B5EF4-FFF2-40B4-BE49-F238E27FC236}">
                <a16:creationId xmlns:a16="http://schemas.microsoft.com/office/drawing/2014/main" id="{F2BA4F5A-4E27-4E99-9C4B-96C79EF670F6}"/>
              </a:ext>
            </a:extLst>
          </p:cNvPr>
          <p:cNvSpPr>
            <a:spLocks xmlns:a="http://schemas.openxmlformats.org/drawingml/2006/main" noGrp="1"/>
          </p:cNvSpPr>
          <p:nvPr/>
        </p:nvSpPr>
        <p:spPr>
          <a:xfrm xmlns:a="http://schemas.openxmlformats.org/drawingml/2006/main">
            <a:off x="9601200" y="1962150"/>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07"/>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Future AI agent</a:t>
            </a:r>
          </a:p>
        </p:txBody>
      </p:sp>
      <p:sp>
        <p:nvSpPr>
          <p:cNvPr id="18" name="">
            <a:extLst xmlns:a="http://schemas.openxmlformats.org/drawingml/2006/main">
              <a:ext uri="{FF2B5EF4-FFF2-40B4-BE49-F238E27FC236}">
                <a16:creationId xmlns:a16="http://schemas.microsoft.com/office/drawing/2014/main" id="{92551F8B-CDF2-47B5-B812-FFD4B17EB476}"/>
              </a:ext>
            </a:extLst>
          </p:cNvPr>
          <p:cNvSpPr>
            <a:spLocks xmlns:a="http://schemas.openxmlformats.org/drawingml/2006/main" noGrp="1"/>
          </p:cNvSpPr>
          <p:nvPr/>
        </p:nvSpPr>
        <p:spPr>
          <a:xfrm xmlns:a="http://schemas.openxmlformats.org/drawingml/2006/main">
            <a:off x="9429750" y="4286250"/>
            <a:ext cx="1905000" cy="781050"/>
          </a:xfrm>
          <a:prstGeom xmlns:a="http://schemas.openxmlformats.org/drawingml/2006/main" prst="roundRect">
            <a:avLst>
              <a:gd name="adj" fmla="val 9756"/>
            </a:avLst>
          </a:prstGeom>
          <a:ln xmlns:a="http://schemas.openxmlformats.org/drawingml/2006/main" w="11430">
            <a:solidFill>
              <a:srgbClr val="38BDF8"/>
            </a:solidFill>
            <a:prstDash val="solid"/>
          </a:ln>
        </p:spPr>
      </p:sp>
      <p:sp>
        <p:nvSpPr>
          <p:cNvPr id="19" name="">
            <a:extLst xmlns:a="http://schemas.openxmlformats.org/drawingml/2006/main">
              <a:ext uri="{FF2B5EF4-FFF2-40B4-BE49-F238E27FC236}">
                <a16:creationId xmlns:a16="http://schemas.microsoft.com/office/drawing/2014/main" id="{21C6BF49-BD4E-4556-AB4B-E96741019297}"/>
              </a:ext>
            </a:extLst>
          </p:cNvPr>
          <p:cNvSpPr>
            <a:spLocks xmlns:a="http://schemas.openxmlformats.org/drawingml/2006/main" noGrp="1"/>
          </p:cNvSpPr>
          <p:nvPr/>
        </p:nvSpPr>
        <p:spPr>
          <a:xfrm xmlns:a="http://schemas.openxmlformats.org/drawingml/2006/main">
            <a:off x="9582150" y="4400550"/>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a:t>
            </a:r>
          </a:p>
        </p:txBody>
      </p:sp>
      <p:sp>
        <p:nvSpPr>
          <p:cNvPr id="20" name="">
            <a:extLst xmlns:a="http://schemas.openxmlformats.org/drawingml/2006/main">
              <a:ext uri="{FF2B5EF4-FFF2-40B4-BE49-F238E27FC236}">
                <a16:creationId xmlns:a16="http://schemas.microsoft.com/office/drawing/2014/main" id="{C17849FC-8C7B-4503-A620-152653361C0C}"/>
              </a:ext>
            </a:extLst>
          </p:cNvPr>
          <p:cNvSpPr>
            <a:spLocks xmlns:a="http://schemas.openxmlformats.org/drawingml/2006/main" noGrp="1"/>
          </p:cNvSpPr>
          <p:nvPr/>
        </p:nvSpPr>
        <p:spPr>
          <a:xfrm xmlns:a="http://schemas.openxmlformats.org/drawingml/2006/main">
            <a:off x="9601200" y="4686300"/>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Other apps</a:t>
            </a:r>
          </a:p>
        </p:txBody>
      </p:sp>
      <p:cxnSp>
        <p:nvCxnSpPr>
          <p:cNvPr id="47" name="">
            <a:extLst xmlns:a="http://schemas.openxmlformats.org/drawingml/2006/main">
              <a:ext uri="{FF2B5EF4-FFF2-40B4-BE49-F238E27FC236}">
                <a16:creationId xmlns:a16="http://schemas.microsoft.com/office/drawing/2014/main" id="{546D1D42-8310-4203-8E23-E85A354A2FB1}"/>
              </a:ext>
            </a:extLst>
          </p:cNvPr>
          <p:cNvCxnSpPr>
            <a:stCxn xmlns:a="http://schemas.openxmlformats.org/drawingml/2006/main" id="9" idx="3"/>
            <a:endCxn xmlns:a="http://schemas.openxmlformats.org/drawingml/2006/main" id="6" idx="1"/>
          </p:cNvCxnSpPr>
          <p:nvPr/>
        </p:nvCxnSpPr>
        <p:spPr>
          <a:xfrm xmlns:a="http://schemas.openxmlformats.org/drawingml/2006/main">
            <a:off x="2809875" y="1952625"/>
            <a:ext cx="1762125" cy="129540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48" name="">
            <a:extLst xmlns:a="http://schemas.openxmlformats.org/drawingml/2006/main">
              <a:ext uri="{FF2B5EF4-FFF2-40B4-BE49-F238E27FC236}">
                <a16:creationId xmlns:a16="http://schemas.microsoft.com/office/drawing/2014/main" id="{09277966-DE63-41F8-981A-0287381B8B69}"/>
              </a:ext>
            </a:extLst>
          </p:cNvPr>
          <p:cNvCxnSpPr>
            <a:stCxn xmlns:a="http://schemas.openxmlformats.org/drawingml/2006/main" id="12" idx="3"/>
            <a:endCxn xmlns:a="http://schemas.openxmlformats.org/drawingml/2006/main" id="6" idx="1"/>
          </p:cNvCxnSpPr>
          <p:nvPr/>
        </p:nvCxnSpPr>
        <p:spPr>
          <a:xfrm xmlns:a="http://schemas.openxmlformats.org/drawingml/2006/main" flipV="1">
            <a:off x="2809875" y="3248025"/>
            <a:ext cx="1762125" cy="142875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49" name="">
            <a:extLst xmlns:a="http://schemas.openxmlformats.org/drawingml/2006/main">
              <a:ext uri="{FF2B5EF4-FFF2-40B4-BE49-F238E27FC236}">
                <a16:creationId xmlns:a16="http://schemas.microsoft.com/office/drawing/2014/main" id="{B991DC09-7D9F-4CCD-B88C-6A7EFF1FAD12}"/>
              </a:ext>
            </a:extLst>
          </p:cNvPr>
          <p:cNvCxnSpPr>
            <a:stCxn xmlns:a="http://schemas.openxmlformats.org/drawingml/2006/main" id="15" idx="1"/>
            <a:endCxn xmlns:a="http://schemas.openxmlformats.org/drawingml/2006/main" id="6" idx="3"/>
          </p:cNvCxnSpPr>
          <p:nvPr/>
        </p:nvCxnSpPr>
        <p:spPr>
          <a:xfrm xmlns:a="http://schemas.openxmlformats.org/drawingml/2006/main" flipH="1">
            <a:off x="7620000" y="1952625"/>
            <a:ext cx="1809750" cy="129540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0" name="">
            <a:extLst xmlns:a="http://schemas.openxmlformats.org/drawingml/2006/main">
              <a:ext uri="{FF2B5EF4-FFF2-40B4-BE49-F238E27FC236}">
                <a16:creationId xmlns:a16="http://schemas.microsoft.com/office/drawing/2014/main" id="{D8B3CBBC-1618-44C5-A3F8-0A92351C87B3}"/>
              </a:ext>
            </a:extLst>
          </p:cNvPr>
          <p:cNvCxnSpPr>
            <a:stCxn xmlns:a="http://schemas.openxmlformats.org/drawingml/2006/main" id="18" idx="1"/>
            <a:endCxn xmlns:a="http://schemas.openxmlformats.org/drawingml/2006/main" id="6" idx="3"/>
          </p:cNvCxnSpPr>
          <p:nvPr/>
        </p:nvCxnSpPr>
        <p:spPr>
          <a:xfrm xmlns:a="http://schemas.openxmlformats.org/drawingml/2006/main" flipH="1" flipV="1">
            <a:off x="7620000" y="3248025"/>
            <a:ext cx="1809750" cy="142875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sp>
        <p:nvSpPr>
          <p:cNvPr id="25" name="">
            <a:extLst xmlns:a="http://schemas.openxmlformats.org/drawingml/2006/main">
              <a:ext uri="{FF2B5EF4-FFF2-40B4-BE49-F238E27FC236}">
                <a16:creationId xmlns:a16="http://schemas.microsoft.com/office/drawing/2014/main" id="{4E8C3C2F-3BF9-4666-89EB-55718AFEAE0A}"/>
              </a:ext>
            </a:extLst>
          </p:cNvPr>
          <p:cNvSpPr>
            <a:spLocks xmlns:a="http://schemas.openxmlformats.org/drawingml/2006/main" noGrp="1"/>
          </p:cNvSpPr>
          <p:nvPr/>
        </p:nvSpPr>
        <p:spPr>
          <a:xfrm xmlns:a="http://schemas.openxmlformats.org/drawingml/2006/main">
            <a:off x="2286000" y="554355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239"/>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MCP keeps client experience flexible while the server owns access, policy, and integration details</a:t>
            </a:r>
          </a:p>
        </p:txBody>
      </p:sp>
      <p:sp>
        <p:nvSpPr>
          <p:cNvPr id="26" name="">
            <a:extLst xmlns:a="http://schemas.openxmlformats.org/drawingml/2006/main">
              <a:ext uri="{FF2B5EF4-FFF2-40B4-BE49-F238E27FC236}">
                <a16:creationId xmlns:a16="http://schemas.microsoft.com/office/drawing/2014/main" id="{E7693A11-FF30-42C0-B22C-B662A4D9D3B9}"/>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04</a:t>
            </a:r>
          </a:p>
        </p:txBody>
      </p:sp>
    </p:spTree>
    <p:extLst>
      <p:ext uri="{BB962C8B-B14F-4D97-AF65-F5344CB8AC3E}">
        <p14:creationId xmlns:p14="http://schemas.microsoft.com/office/powerpoint/2010/main" val="1506618177"/>
      </p:ext>
    </p:extLst>
  </p:cSld>
</p:sld>
</file>

<file path=ppt/slides/slide5.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84D2DB-1A32-4022-92F0-F280FA30F3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61A3D6-8B29-4F78-960E-9FFE2275B9EF}"/>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49E45D-7B28-40C9-8A58-A894C93B0014}"/>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5F672E-49AC-4826-9EB3-6A471972BBD0}"/>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Trading Journal MCP topology</a:t>
            </a:r>
          </a:p>
        </p:txBody>
      </p:sp>
      <p:sp>
        <p:nvSpPr>
          <p:cNvPr id="5" name="">
            <a:extLst xmlns:a="http://schemas.openxmlformats.org/drawingml/2006/main">
              <a:ext uri="{FF2B5EF4-FFF2-40B4-BE49-F238E27FC236}">
                <a16:creationId xmlns:a16="http://schemas.microsoft.com/office/drawing/2014/main" id="{5DFF9C98-6C66-4F57-AA63-7A83A5B6F958}"/>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The app exposes finance workflows through domain MCP servers</a:t>
            </a:r>
          </a:p>
        </p:txBody>
      </p:sp>
      <p:sp>
        <p:nvSpPr>
          <p:cNvPr id="6" name="">
            <a:extLst xmlns:a="http://schemas.openxmlformats.org/drawingml/2006/main">
              <a:ext uri="{FF2B5EF4-FFF2-40B4-BE49-F238E27FC236}">
                <a16:creationId xmlns:a16="http://schemas.microsoft.com/office/drawing/2014/main" id="{D34C0085-4593-429E-863E-F2B4E9AD3C20}"/>
              </a:ext>
            </a:extLst>
          </p:cNvPr>
          <p:cNvSpPr>
            <a:spLocks xmlns:a="http://schemas.openxmlformats.org/drawingml/2006/main" noGrp="1"/>
          </p:cNvSpPr>
          <p:nvPr/>
        </p:nvSpPr>
        <p:spPr>
          <a:xfrm xmlns:a="http://schemas.openxmlformats.org/drawingml/2006/main">
            <a:off x="666750" y="2400300"/>
            <a:ext cx="2000250" cy="1619250"/>
          </a:xfrm>
          <a:prstGeom xmlns:a="http://schemas.openxmlformats.org/drawingml/2006/main" prst="roundRect">
            <a:avLst>
              <a:gd name="adj" fmla="val 4706"/>
            </a:avLst>
          </a:prstGeom>
          <a:ln xmlns:a="http://schemas.openxmlformats.org/drawingml/2006/main" w="11430">
            <a:solidFill>
              <a:srgbClr val="38BDF8"/>
            </a:solidFill>
            <a:prstDash val="solid"/>
          </a:ln>
        </p:spPr>
      </p:sp>
      <p:sp>
        <p:nvSpPr>
          <p:cNvPr id="7" name="">
            <a:extLst xmlns:a="http://schemas.openxmlformats.org/drawingml/2006/main">
              <a:ext uri="{FF2B5EF4-FFF2-40B4-BE49-F238E27FC236}">
                <a16:creationId xmlns:a16="http://schemas.microsoft.com/office/drawing/2014/main" id="{E8F610AC-EB38-4531-9DEB-D7891CE0B5C8}"/>
              </a:ext>
            </a:extLst>
          </p:cNvPr>
          <p:cNvSpPr>
            <a:spLocks xmlns:a="http://schemas.openxmlformats.org/drawingml/2006/main" noGrp="1"/>
          </p:cNvSpPr>
          <p:nvPr/>
        </p:nvSpPr>
        <p:spPr>
          <a:xfrm xmlns:a="http://schemas.openxmlformats.org/drawingml/2006/main">
            <a:off x="819150" y="2514600"/>
            <a:ext cx="1695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CLIENTS</a:t>
            </a:r>
          </a:p>
        </p:txBody>
      </p:sp>
      <p:sp>
        <p:nvSpPr>
          <p:cNvPr id="8" name="">
            <a:extLst xmlns:a="http://schemas.openxmlformats.org/drawingml/2006/main">
              <a:ext uri="{FF2B5EF4-FFF2-40B4-BE49-F238E27FC236}">
                <a16:creationId xmlns:a16="http://schemas.microsoft.com/office/drawing/2014/main" id="{B8ABB7CF-1317-4165-AB6D-F8650780B8CA}"/>
              </a:ext>
            </a:extLst>
          </p:cNvPr>
          <p:cNvSpPr>
            <a:spLocks xmlns:a="http://schemas.openxmlformats.org/drawingml/2006/main" noGrp="1"/>
          </p:cNvSpPr>
          <p:nvPr/>
        </p:nvSpPr>
        <p:spPr>
          <a:xfrm xmlns:a="http://schemas.openxmlformats.org/drawingml/2006/main">
            <a:off x="838200" y="2800350"/>
            <a:ext cx="16573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725" b="1">
                <a:solidFill>
                  <a:srgbClr val="EDF6FF"/>
                </a:solidFill>
                <a:latin typeface="Aptos"/>
                <a:ea typeface="Aptos"/>
                <a:cs typeface="Aptos"/>
              </a:defRPr>
            </a:pPr>
            <a:r>
              <a:rPr sz="1725" b="1">
                <a:solidFill>
                  <a:srgbClr val="EDF6FF"/>
                </a:solidFill>
                <a:latin typeface="Aptos"/>
                <a:ea typeface="Aptos"/>
                <a:cs typeface="Aptos"/>
              </a:rPr>
              <a:t>Web UI</a:t>
            </a:r>
          </a:p>
          <a:p xmlns:a="http://schemas.openxmlformats.org/drawingml/2006/main">
            <a:pPr algn="ctr">
              <a:buNone/>
              <a:defRPr sz="1725" b="1">
                <a:solidFill>
                  <a:srgbClr val="EDF6FF"/>
                </a:solidFill>
                <a:latin typeface="Aptos"/>
                <a:ea typeface="Aptos"/>
                <a:cs typeface="Aptos"/>
              </a:defRPr>
            </a:pPr>
            <a:r>
              <a:rPr sz="1725" b="1">
                <a:solidFill>
                  <a:srgbClr val="EDF6FF"/>
                </a:solidFill>
                <a:latin typeface="Aptos"/>
                <a:ea typeface="Aptos"/>
                <a:cs typeface="Aptos"/>
              </a:rPr>
              <a:t>MCP Console</a:t>
            </a:r>
          </a:p>
        </p:txBody>
      </p:sp>
      <p:sp>
        <p:nvSpPr>
          <p:cNvPr id="9" name="">
            <a:extLst xmlns:a="http://schemas.openxmlformats.org/drawingml/2006/main">
              <a:ext uri="{FF2B5EF4-FFF2-40B4-BE49-F238E27FC236}">
                <a16:creationId xmlns:a16="http://schemas.microsoft.com/office/drawing/2014/main" id="{A1F528B7-71A2-4F50-8A8E-BDC1D921163E}"/>
              </a:ext>
            </a:extLst>
          </p:cNvPr>
          <p:cNvSpPr>
            <a:spLocks xmlns:a="http://schemas.openxmlformats.org/drawingml/2006/main" noGrp="1"/>
          </p:cNvSpPr>
          <p:nvPr/>
        </p:nvSpPr>
        <p:spPr>
          <a:xfrm xmlns:a="http://schemas.openxmlformats.org/drawingml/2006/main">
            <a:off x="3333750" y="2457450"/>
            <a:ext cx="2190750" cy="1504950"/>
          </a:xfrm>
          <a:prstGeom xmlns:a="http://schemas.openxmlformats.org/drawingml/2006/main" prst="roundRect">
            <a:avLst>
              <a:gd name="adj" fmla="val 5063"/>
            </a:avLst>
          </a:prstGeom>
          <a:ln xmlns:a="http://schemas.openxmlformats.org/drawingml/2006/main" w="11430">
            <a:solidFill>
              <a:srgbClr val="2DD4BF"/>
            </a:solidFill>
            <a:prstDash val="solid"/>
          </a:ln>
        </p:spPr>
      </p:sp>
      <p:sp>
        <p:nvSpPr>
          <p:cNvPr id="10" name="">
            <a:extLst xmlns:a="http://schemas.openxmlformats.org/drawingml/2006/main">
              <a:ext uri="{FF2B5EF4-FFF2-40B4-BE49-F238E27FC236}">
                <a16:creationId xmlns:a16="http://schemas.microsoft.com/office/drawing/2014/main" id="{6EDAC535-63F5-45A3-8DB6-DDB578FD717F}"/>
              </a:ext>
            </a:extLst>
          </p:cNvPr>
          <p:cNvSpPr>
            <a:spLocks xmlns:a="http://schemas.openxmlformats.org/drawingml/2006/main" noGrp="1"/>
          </p:cNvSpPr>
          <p:nvPr/>
        </p:nvSpPr>
        <p:spPr>
          <a:xfrm xmlns:a="http://schemas.openxmlformats.org/drawingml/2006/main">
            <a:off x="3486150" y="257175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APP HOST</a:t>
            </a:r>
          </a:p>
        </p:txBody>
      </p:sp>
      <p:sp>
        <p:nvSpPr>
          <p:cNvPr id="11" name="">
            <a:extLst xmlns:a="http://schemas.openxmlformats.org/drawingml/2006/main">
              <a:ext uri="{FF2B5EF4-FFF2-40B4-BE49-F238E27FC236}">
                <a16:creationId xmlns:a16="http://schemas.microsoft.com/office/drawing/2014/main" id="{EBD9E94E-4ADE-4BE1-B076-665ED1CE48BA}"/>
              </a:ext>
            </a:extLst>
          </p:cNvPr>
          <p:cNvSpPr>
            <a:spLocks xmlns:a="http://schemas.openxmlformats.org/drawingml/2006/main" noGrp="1"/>
          </p:cNvSpPr>
          <p:nvPr/>
        </p:nvSpPr>
        <p:spPr>
          <a:xfrm xmlns:a="http://schemas.openxmlformats.org/drawingml/2006/main">
            <a:off x="3505200" y="2857500"/>
            <a:ext cx="1847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FastAPI app</a:t>
            </a:r>
          </a:p>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Internal MCP client</a:t>
            </a:r>
          </a:p>
        </p:txBody>
      </p:sp>
      <p:sp>
        <p:nvSpPr>
          <p:cNvPr id="12" name="">
            <a:extLst xmlns:a="http://schemas.openxmlformats.org/drawingml/2006/main">
              <a:ext uri="{FF2B5EF4-FFF2-40B4-BE49-F238E27FC236}">
                <a16:creationId xmlns:a16="http://schemas.microsoft.com/office/drawing/2014/main" id="{C900E445-01D6-4F43-A465-9DDF94207B9F}"/>
              </a:ext>
            </a:extLst>
          </p:cNvPr>
          <p:cNvSpPr>
            <a:spLocks xmlns:a="http://schemas.openxmlformats.org/drawingml/2006/main" noGrp="1"/>
          </p:cNvSpPr>
          <p:nvPr/>
        </p:nvSpPr>
        <p:spPr>
          <a:xfrm xmlns:a="http://schemas.openxmlformats.org/drawingml/2006/main">
            <a:off x="6238875" y="1952625"/>
            <a:ext cx="2190750" cy="2514600"/>
          </a:xfrm>
          <a:prstGeom xmlns:a="http://schemas.openxmlformats.org/drawingml/2006/main" prst="roundRect">
            <a:avLst>
              <a:gd name="adj" fmla="val 3478"/>
            </a:avLst>
          </a:prstGeom>
          <a:ln xmlns:a="http://schemas.openxmlformats.org/drawingml/2006/main" w="11430">
            <a:solidFill>
              <a:srgbClr val="2DD4BF"/>
            </a:solidFill>
            <a:prstDash val="solid"/>
          </a:ln>
        </p:spPr>
      </p:sp>
      <p:sp>
        <p:nvSpPr>
          <p:cNvPr id="13" name="">
            <a:extLst xmlns:a="http://schemas.openxmlformats.org/drawingml/2006/main">
              <a:ext uri="{FF2B5EF4-FFF2-40B4-BE49-F238E27FC236}">
                <a16:creationId xmlns:a16="http://schemas.microsoft.com/office/drawing/2014/main" id="{0375DDB5-7930-406F-9828-BF5A46E11315}"/>
              </a:ext>
            </a:extLst>
          </p:cNvPr>
          <p:cNvSpPr>
            <a:spLocks xmlns:a="http://schemas.openxmlformats.org/drawingml/2006/main" noGrp="1"/>
          </p:cNvSpPr>
          <p:nvPr/>
        </p:nvSpPr>
        <p:spPr>
          <a:xfrm xmlns:a="http://schemas.openxmlformats.org/drawingml/2006/main">
            <a:off x="6391275" y="20669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MCP SERVERS</a:t>
            </a:r>
          </a:p>
        </p:txBody>
      </p:sp>
      <p:sp>
        <p:nvSpPr>
          <p:cNvPr id="14" name="">
            <a:extLst xmlns:a="http://schemas.openxmlformats.org/drawingml/2006/main">
              <a:ext uri="{FF2B5EF4-FFF2-40B4-BE49-F238E27FC236}">
                <a16:creationId xmlns:a16="http://schemas.microsoft.com/office/drawing/2014/main" id="{44781F9A-D285-4CEC-B08F-122BAEB8BF9E}"/>
              </a:ext>
            </a:extLst>
          </p:cNvPr>
          <p:cNvSpPr>
            <a:spLocks xmlns:a="http://schemas.openxmlformats.org/drawingml/2006/main" noGrp="1"/>
          </p:cNvSpPr>
          <p:nvPr/>
        </p:nvSpPr>
        <p:spPr>
          <a:xfrm xmlns:a="http://schemas.openxmlformats.org/drawingml/2006/main">
            <a:off x="6410325" y="2352675"/>
            <a:ext cx="18478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Portfolio</a:t>
            </a:r>
          </a:p>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Market Data</a:t>
            </a:r>
          </a:p>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News</a:t>
            </a:r>
          </a:p>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Broker</a:t>
            </a:r>
          </a:p>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Trading</a:t>
            </a:r>
          </a:p>
        </p:txBody>
      </p:sp>
      <p:sp>
        <p:nvSpPr>
          <p:cNvPr id="15" name="">
            <a:extLst xmlns:a="http://schemas.openxmlformats.org/drawingml/2006/main">
              <a:ext uri="{FF2B5EF4-FFF2-40B4-BE49-F238E27FC236}">
                <a16:creationId xmlns:a16="http://schemas.microsoft.com/office/drawing/2014/main" id="{6677AC2D-AD95-423F-A58F-BDB8CF517E18}"/>
              </a:ext>
            </a:extLst>
          </p:cNvPr>
          <p:cNvSpPr>
            <a:spLocks xmlns:a="http://schemas.openxmlformats.org/drawingml/2006/main" noGrp="1"/>
          </p:cNvSpPr>
          <p:nvPr/>
        </p:nvSpPr>
        <p:spPr>
          <a:xfrm xmlns:a="http://schemas.openxmlformats.org/drawingml/2006/main">
            <a:off x="9239250" y="1524000"/>
            <a:ext cx="2190750" cy="990600"/>
          </a:xfrm>
          <a:prstGeom xmlns:a="http://schemas.openxmlformats.org/drawingml/2006/main" prst="roundRect">
            <a:avLst>
              <a:gd name="adj" fmla="val 7692"/>
            </a:avLst>
          </a:prstGeom>
          <a:ln xmlns:a="http://schemas.openxmlformats.org/drawingml/2006/main" w="11430">
            <a:solidFill>
              <a:srgbClr val="4ADE80"/>
            </a:solidFill>
            <a:prstDash val="solid"/>
          </a:ln>
        </p:spPr>
      </p:sp>
      <p:sp>
        <p:nvSpPr>
          <p:cNvPr id="16" name="">
            <a:extLst xmlns:a="http://schemas.openxmlformats.org/drawingml/2006/main">
              <a:ext uri="{FF2B5EF4-FFF2-40B4-BE49-F238E27FC236}">
                <a16:creationId xmlns:a16="http://schemas.microsoft.com/office/drawing/2014/main" id="{A9405023-A250-4917-B06E-137C5D073625}"/>
              </a:ext>
            </a:extLst>
          </p:cNvPr>
          <p:cNvSpPr>
            <a:spLocks xmlns:a="http://schemas.openxmlformats.org/drawingml/2006/main" noGrp="1"/>
          </p:cNvSpPr>
          <p:nvPr/>
        </p:nvSpPr>
        <p:spPr>
          <a:xfrm xmlns:a="http://schemas.openxmlformats.org/drawingml/2006/main">
            <a:off x="9391650" y="16383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SERVICES</a:t>
            </a:r>
          </a:p>
        </p:txBody>
      </p:sp>
      <p:sp>
        <p:nvSpPr>
          <p:cNvPr id="17" name="">
            <a:extLst xmlns:a="http://schemas.openxmlformats.org/drawingml/2006/main">
              <a:ext uri="{FF2B5EF4-FFF2-40B4-BE49-F238E27FC236}">
                <a16:creationId xmlns:a16="http://schemas.microsoft.com/office/drawing/2014/main" id="{48151C62-48A8-4B58-ADD8-1F8E08355A20}"/>
              </a:ext>
            </a:extLst>
          </p:cNvPr>
          <p:cNvSpPr>
            <a:spLocks xmlns:a="http://schemas.openxmlformats.org/drawingml/2006/main" noGrp="1"/>
          </p:cNvSpPr>
          <p:nvPr/>
        </p:nvSpPr>
        <p:spPr>
          <a:xfrm xmlns:a="http://schemas.openxmlformats.org/drawingml/2006/main">
            <a:off x="9410700" y="1924050"/>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324"/>
          </a:bodyPr>
          <a:lstStyle xmlns:a="http://schemas.openxmlformats.org/drawingml/2006/main"/>
          <a:p xmlns:a="http://schemas.openxmlformats.org/drawingml/2006/main">
            <a:pPr algn="ctr">
              <a:buNone/>
              <a:defRPr sz="1425" b="1">
                <a:solidFill>
                  <a:srgbClr val="EDF6FF"/>
                </a:solidFill>
                <a:latin typeface="Aptos"/>
                <a:ea typeface="Aptos"/>
                <a:cs typeface="Aptos"/>
              </a:defRPr>
            </a:pPr>
            <a:r>
              <a:rPr sz="1425" b="1">
                <a:solidFill>
                  <a:srgbClr val="EDF6FF"/>
                </a:solidFill>
                <a:latin typeface="Aptos"/>
                <a:ea typeface="Aptos"/>
                <a:cs typeface="Aptos"/>
              </a:rPr>
              <a:t>Portfolio, market data,</a:t>
            </a:r>
          </a:p>
          <a:p xmlns:a="http://schemas.openxmlformats.org/drawingml/2006/main">
            <a:pPr algn="ctr">
              <a:buNone/>
              <a:defRPr sz="1425" b="1">
                <a:solidFill>
                  <a:srgbClr val="EDF6FF"/>
                </a:solidFill>
                <a:latin typeface="Aptos"/>
                <a:ea typeface="Aptos"/>
                <a:cs typeface="Aptos"/>
              </a:defRPr>
            </a:pPr>
            <a:r>
              <a:rPr sz="1425" b="1">
                <a:solidFill>
                  <a:srgbClr val="EDF6FF"/>
                </a:solidFill>
                <a:latin typeface="Aptos"/>
                <a:ea typeface="Aptos"/>
                <a:cs typeface="Aptos"/>
              </a:rPr>
              <a:t>news, broker, orders</a:t>
            </a:r>
          </a:p>
        </p:txBody>
      </p:sp>
      <p:sp>
        <p:nvSpPr>
          <p:cNvPr id="18" name="">
            <a:extLst xmlns:a="http://schemas.openxmlformats.org/drawingml/2006/main">
              <a:ext uri="{FF2B5EF4-FFF2-40B4-BE49-F238E27FC236}">
                <a16:creationId xmlns:a16="http://schemas.microsoft.com/office/drawing/2014/main" id="{3D14EB7E-8963-44E8-A048-CD05FF6C9040}"/>
              </a:ext>
            </a:extLst>
          </p:cNvPr>
          <p:cNvSpPr>
            <a:spLocks xmlns:a="http://schemas.openxmlformats.org/drawingml/2006/main" noGrp="1"/>
          </p:cNvSpPr>
          <p:nvPr/>
        </p:nvSpPr>
        <p:spPr>
          <a:xfrm xmlns:a="http://schemas.openxmlformats.org/drawingml/2006/main">
            <a:off x="9239250" y="2933700"/>
            <a:ext cx="2190750" cy="990600"/>
          </a:xfrm>
          <a:prstGeom xmlns:a="http://schemas.openxmlformats.org/drawingml/2006/main" prst="roundRect">
            <a:avLst>
              <a:gd name="adj" fmla="val 7692"/>
            </a:avLst>
          </a:prstGeom>
          <a:ln xmlns:a="http://schemas.openxmlformats.org/drawingml/2006/main" w="11430">
            <a:solidFill>
              <a:srgbClr val="2A3D50"/>
            </a:solidFill>
            <a:prstDash val="solid"/>
          </a:ln>
        </p:spPr>
      </p:sp>
      <p:sp>
        <p:nvSpPr>
          <p:cNvPr id="19" name="">
            <a:extLst xmlns:a="http://schemas.openxmlformats.org/drawingml/2006/main">
              <a:ext uri="{FF2B5EF4-FFF2-40B4-BE49-F238E27FC236}">
                <a16:creationId xmlns:a16="http://schemas.microsoft.com/office/drawing/2014/main" id="{077F2705-573A-4CB1-BD4A-5FB2F12802EA}"/>
              </a:ext>
            </a:extLst>
          </p:cNvPr>
          <p:cNvSpPr>
            <a:spLocks xmlns:a="http://schemas.openxmlformats.org/drawingml/2006/main" noGrp="1"/>
          </p:cNvSpPr>
          <p:nvPr/>
        </p:nvSpPr>
        <p:spPr>
          <a:xfrm xmlns:a="http://schemas.openxmlformats.org/drawingml/2006/main">
            <a:off x="9391650" y="30480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STATE</a:t>
            </a:r>
          </a:p>
        </p:txBody>
      </p:sp>
      <p:sp>
        <p:nvSpPr>
          <p:cNvPr id="20" name="">
            <a:extLst xmlns:a="http://schemas.openxmlformats.org/drawingml/2006/main">
              <a:ext uri="{FF2B5EF4-FFF2-40B4-BE49-F238E27FC236}">
                <a16:creationId xmlns:a16="http://schemas.microsoft.com/office/drawing/2014/main" id="{5F4782B7-465B-4294-96F3-6150B388E3FC}"/>
              </a:ext>
            </a:extLst>
          </p:cNvPr>
          <p:cNvSpPr>
            <a:spLocks xmlns:a="http://schemas.openxmlformats.org/drawingml/2006/main" noGrp="1"/>
          </p:cNvSpPr>
          <p:nvPr/>
        </p:nvSpPr>
        <p:spPr>
          <a:xfrm xmlns:a="http://schemas.openxmlformats.org/drawingml/2006/main">
            <a:off x="9410700" y="3333750"/>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SQLite database</a:t>
            </a:r>
          </a:p>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Audit logs</a:t>
            </a:r>
          </a:p>
        </p:txBody>
      </p:sp>
      <p:sp>
        <p:nvSpPr>
          <p:cNvPr id="21" name="">
            <a:extLst xmlns:a="http://schemas.openxmlformats.org/drawingml/2006/main">
              <a:ext uri="{FF2B5EF4-FFF2-40B4-BE49-F238E27FC236}">
                <a16:creationId xmlns:a16="http://schemas.microsoft.com/office/drawing/2014/main" id="{2C2BEF2C-752E-4814-A032-2203FCD24F68}"/>
              </a:ext>
            </a:extLst>
          </p:cNvPr>
          <p:cNvSpPr>
            <a:spLocks xmlns:a="http://schemas.openxmlformats.org/drawingml/2006/main" noGrp="1"/>
          </p:cNvSpPr>
          <p:nvPr/>
        </p:nvSpPr>
        <p:spPr>
          <a:xfrm xmlns:a="http://schemas.openxmlformats.org/drawingml/2006/main">
            <a:off x="9239250" y="4343400"/>
            <a:ext cx="2190750" cy="990600"/>
          </a:xfrm>
          <a:prstGeom xmlns:a="http://schemas.openxmlformats.org/drawingml/2006/main" prst="roundRect">
            <a:avLst>
              <a:gd name="adj" fmla="val 7692"/>
            </a:avLst>
          </a:prstGeom>
          <a:ln xmlns:a="http://schemas.openxmlformats.org/drawingml/2006/main" w="11430">
            <a:solidFill>
              <a:srgbClr val="2A3D50"/>
            </a:solidFill>
            <a:prstDash val="solid"/>
          </a:ln>
        </p:spPr>
      </p:sp>
      <p:sp>
        <p:nvSpPr>
          <p:cNvPr id="22" name="">
            <a:extLst xmlns:a="http://schemas.openxmlformats.org/drawingml/2006/main">
              <a:ext uri="{FF2B5EF4-FFF2-40B4-BE49-F238E27FC236}">
                <a16:creationId xmlns:a16="http://schemas.microsoft.com/office/drawing/2014/main" id="{9AC68F92-A7B6-4280-BB65-FC4D6175BA3B}"/>
              </a:ext>
            </a:extLst>
          </p:cNvPr>
          <p:cNvSpPr>
            <a:spLocks xmlns:a="http://schemas.openxmlformats.org/drawingml/2006/main" noGrp="1"/>
          </p:cNvSpPr>
          <p:nvPr/>
        </p:nvSpPr>
        <p:spPr>
          <a:xfrm xmlns:a="http://schemas.openxmlformats.org/drawingml/2006/main">
            <a:off x="9391650" y="44577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PROVIDERS</a:t>
            </a:r>
          </a:p>
        </p:txBody>
      </p:sp>
      <p:sp>
        <p:nvSpPr>
          <p:cNvPr id="23" name="">
            <a:extLst xmlns:a="http://schemas.openxmlformats.org/drawingml/2006/main">
              <a:ext uri="{FF2B5EF4-FFF2-40B4-BE49-F238E27FC236}">
                <a16:creationId xmlns:a16="http://schemas.microsoft.com/office/drawing/2014/main" id="{3CF92976-569D-49F6-9AC6-15632604CD67}"/>
              </a:ext>
            </a:extLst>
          </p:cNvPr>
          <p:cNvSpPr>
            <a:spLocks xmlns:a="http://schemas.openxmlformats.org/drawingml/2006/main" noGrp="1"/>
          </p:cNvSpPr>
          <p:nvPr/>
        </p:nvSpPr>
        <p:spPr>
          <a:xfrm xmlns:a="http://schemas.openxmlformats.org/drawingml/2006/main">
            <a:off x="9410700" y="4743450"/>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Yahoo snapshots</a:t>
            </a:r>
          </a:p>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Yahoo news</a:t>
            </a:r>
          </a:p>
        </p:txBody>
      </p:sp>
      <p:cxnSp>
        <p:nvCxnSpPr>
          <p:cNvPr id="53" name="">
            <a:extLst xmlns:a="http://schemas.openxmlformats.org/drawingml/2006/main">
              <a:ext uri="{FF2B5EF4-FFF2-40B4-BE49-F238E27FC236}">
                <a16:creationId xmlns:a16="http://schemas.microsoft.com/office/drawing/2014/main" id="{476ADA75-1D3C-4016-AC14-A667C0F53E78}"/>
              </a:ext>
            </a:extLst>
          </p:cNvPr>
          <p:cNvCxnSpPr>
            <a:stCxn xmlns:a="http://schemas.openxmlformats.org/drawingml/2006/main" id="6" idx="3"/>
            <a:endCxn xmlns:a="http://schemas.openxmlformats.org/drawingml/2006/main" id="9" idx="1"/>
          </p:cNvCxnSpPr>
          <p:nvPr/>
        </p:nvCxnSpPr>
        <p:spPr>
          <a:xfrm xmlns:a="http://schemas.openxmlformats.org/drawingml/2006/main">
            <a:off x="2667000" y="3209925"/>
            <a:ext cx="666750"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4" name="">
            <a:extLst xmlns:a="http://schemas.openxmlformats.org/drawingml/2006/main">
              <a:ext uri="{FF2B5EF4-FFF2-40B4-BE49-F238E27FC236}">
                <a16:creationId xmlns:a16="http://schemas.microsoft.com/office/drawing/2014/main" id="{746CA030-F17F-4692-B1F9-2B74D9B19AC2}"/>
              </a:ext>
            </a:extLst>
          </p:cNvPr>
          <p:cNvCxnSpPr>
            <a:stCxn xmlns:a="http://schemas.openxmlformats.org/drawingml/2006/main" id="9" idx="3"/>
            <a:endCxn xmlns:a="http://schemas.openxmlformats.org/drawingml/2006/main" id="12" idx="1"/>
          </p:cNvCxnSpPr>
          <p:nvPr/>
        </p:nvCxnSpPr>
        <p:spPr>
          <a:xfrm xmlns:a="http://schemas.openxmlformats.org/drawingml/2006/main">
            <a:off x="5524500" y="3209925"/>
            <a:ext cx="714375"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5" name="">
            <a:extLst xmlns:a="http://schemas.openxmlformats.org/drawingml/2006/main">
              <a:ext uri="{FF2B5EF4-FFF2-40B4-BE49-F238E27FC236}">
                <a16:creationId xmlns:a16="http://schemas.microsoft.com/office/drawing/2014/main" id="{5971F144-6C11-4CDB-91EB-A41C91103090}"/>
              </a:ext>
            </a:extLst>
          </p:cNvPr>
          <p:cNvCxnSpPr>
            <a:stCxn xmlns:a="http://schemas.openxmlformats.org/drawingml/2006/main" id="12" idx="3"/>
            <a:endCxn xmlns:a="http://schemas.openxmlformats.org/drawingml/2006/main" id="15" idx="1"/>
          </p:cNvCxnSpPr>
          <p:nvPr/>
        </p:nvCxnSpPr>
        <p:spPr>
          <a:xfrm xmlns:a="http://schemas.openxmlformats.org/drawingml/2006/main" flipV="1">
            <a:off x="8429625" y="2019300"/>
            <a:ext cx="809625" cy="1190625"/>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6" name="">
            <a:extLst xmlns:a="http://schemas.openxmlformats.org/drawingml/2006/main">
              <a:ext uri="{FF2B5EF4-FFF2-40B4-BE49-F238E27FC236}">
                <a16:creationId xmlns:a16="http://schemas.microsoft.com/office/drawing/2014/main" id="{49715074-6D69-4690-8727-FE948F8D682F}"/>
              </a:ext>
            </a:extLst>
          </p:cNvPr>
          <p:cNvCxnSpPr>
            <a:stCxn xmlns:a="http://schemas.openxmlformats.org/drawingml/2006/main" id="12" idx="3"/>
            <a:endCxn xmlns:a="http://schemas.openxmlformats.org/drawingml/2006/main" id="18" idx="1"/>
          </p:cNvCxnSpPr>
          <p:nvPr/>
        </p:nvCxnSpPr>
        <p:spPr>
          <a:xfrm xmlns:a="http://schemas.openxmlformats.org/drawingml/2006/main">
            <a:off x="8429625" y="3209925"/>
            <a:ext cx="809625" cy="219075"/>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7" name="">
            <a:extLst xmlns:a="http://schemas.openxmlformats.org/drawingml/2006/main">
              <a:ext uri="{FF2B5EF4-FFF2-40B4-BE49-F238E27FC236}">
                <a16:creationId xmlns:a16="http://schemas.microsoft.com/office/drawing/2014/main" id="{4965C1AB-8273-44C7-8435-DAB66ADB807A}"/>
              </a:ext>
            </a:extLst>
          </p:cNvPr>
          <p:cNvCxnSpPr>
            <a:stCxn xmlns:a="http://schemas.openxmlformats.org/drawingml/2006/main" id="12" idx="3"/>
            <a:endCxn xmlns:a="http://schemas.openxmlformats.org/drawingml/2006/main" id="21" idx="1"/>
          </p:cNvCxnSpPr>
          <p:nvPr/>
        </p:nvCxnSpPr>
        <p:spPr>
          <a:xfrm xmlns:a="http://schemas.openxmlformats.org/drawingml/2006/main">
            <a:off x="8429625" y="3209925"/>
            <a:ext cx="809625" cy="1628775"/>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sp>
        <p:nvSpPr>
          <p:cNvPr id="29" name="">
            <a:extLst xmlns:a="http://schemas.openxmlformats.org/drawingml/2006/main">
              <a:ext uri="{FF2B5EF4-FFF2-40B4-BE49-F238E27FC236}">
                <a16:creationId xmlns:a16="http://schemas.microsoft.com/office/drawing/2014/main" id="{3D3ADEAB-DBF6-497E-8963-797CF31E3223}"/>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05</a:t>
            </a:r>
          </a:p>
        </p:txBody>
      </p:sp>
    </p:spTree>
    <p:extLst>
      <p:ext uri="{BB962C8B-B14F-4D97-AF65-F5344CB8AC3E}">
        <p14:creationId xmlns:p14="http://schemas.microsoft.com/office/powerpoint/2010/main" val="1455303210"/>
      </p:ext>
    </p:extLst>
  </p:cSld>
</p:sld>
</file>

<file path=ppt/slides/slide6.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811B721-F01F-413A-A601-A7CE947619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7366D2-A0EC-4361-9F3D-8DB5F688FA4F}"/>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BEF075-DDAB-4346-A6D3-4022494AD0C9}"/>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4213BC-3338-476C-B9F0-6C0C3C980A4C}"/>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Two client paths</a:t>
            </a:r>
          </a:p>
        </p:txBody>
      </p:sp>
      <p:sp>
        <p:nvSpPr>
          <p:cNvPr id="5" name="">
            <a:extLst xmlns:a="http://schemas.openxmlformats.org/drawingml/2006/main">
              <a:ext uri="{FF2B5EF4-FFF2-40B4-BE49-F238E27FC236}">
                <a16:creationId xmlns:a16="http://schemas.microsoft.com/office/drawing/2014/main" id="{7745EBC7-526E-4DCF-889E-0A52FA1EABE6}"/>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The same MCP servers support the browser and the terminal</a:t>
            </a:r>
          </a:p>
        </p:txBody>
      </p:sp>
      <p:sp>
        <p:nvSpPr>
          <p:cNvPr id="6" name="">
            <a:extLst xmlns:a="http://schemas.openxmlformats.org/drawingml/2006/main">
              <a:ext uri="{FF2B5EF4-FFF2-40B4-BE49-F238E27FC236}">
                <a16:creationId xmlns:a16="http://schemas.microsoft.com/office/drawing/2014/main" id="{32BBE787-4583-4771-AB32-55628DF71DA5}"/>
              </a:ext>
            </a:extLst>
          </p:cNvPr>
          <p:cNvSpPr>
            <a:spLocks xmlns:a="http://schemas.openxmlformats.org/drawingml/2006/main" noGrp="1"/>
          </p:cNvSpPr>
          <p:nvPr/>
        </p:nvSpPr>
        <p:spPr>
          <a:xfrm xmlns:a="http://schemas.openxmlformats.org/drawingml/2006/main">
            <a:off x="809625" y="1790700"/>
            <a:ext cx="2190750" cy="819150"/>
          </a:xfrm>
          <a:prstGeom xmlns:a="http://schemas.openxmlformats.org/drawingml/2006/main" prst="roundRect">
            <a:avLst>
              <a:gd name="adj" fmla="val 9302"/>
            </a:avLst>
          </a:prstGeom>
          <a:ln xmlns:a="http://schemas.openxmlformats.org/drawingml/2006/main" w="11430">
            <a:solidFill>
              <a:srgbClr val="38BDF8"/>
            </a:solidFill>
            <a:prstDash val="solid"/>
          </a:ln>
        </p:spPr>
      </p:sp>
      <p:sp>
        <p:nvSpPr>
          <p:cNvPr id="7" name="">
            <a:extLst xmlns:a="http://schemas.openxmlformats.org/drawingml/2006/main">
              <a:ext uri="{FF2B5EF4-FFF2-40B4-BE49-F238E27FC236}">
                <a16:creationId xmlns:a16="http://schemas.microsoft.com/office/drawing/2014/main" id="{77C588EE-CA10-4CD8-BD8E-D1F94561D4E9}"/>
              </a:ext>
            </a:extLst>
          </p:cNvPr>
          <p:cNvSpPr>
            <a:spLocks xmlns:a="http://schemas.openxmlformats.org/drawingml/2006/main" noGrp="1"/>
          </p:cNvSpPr>
          <p:nvPr/>
        </p:nvSpPr>
        <p:spPr>
          <a:xfrm xmlns:a="http://schemas.openxmlformats.org/drawingml/2006/main">
            <a:off x="962025" y="19050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WEB</a:t>
            </a:r>
          </a:p>
        </p:txBody>
      </p:sp>
      <p:sp>
        <p:nvSpPr>
          <p:cNvPr id="8" name="">
            <a:extLst xmlns:a="http://schemas.openxmlformats.org/drawingml/2006/main">
              <a:ext uri="{FF2B5EF4-FFF2-40B4-BE49-F238E27FC236}">
                <a16:creationId xmlns:a16="http://schemas.microsoft.com/office/drawing/2014/main" id="{DDB00B49-3E47-4A20-A24F-F70FB684ECE2}"/>
              </a:ext>
            </a:extLst>
          </p:cNvPr>
          <p:cNvSpPr>
            <a:spLocks xmlns:a="http://schemas.openxmlformats.org/drawingml/2006/main" noGrp="1"/>
          </p:cNvSpPr>
          <p:nvPr/>
        </p:nvSpPr>
        <p:spPr>
          <a:xfrm xmlns:a="http://schemas.openxmlformats.org/drawingml/2006/main">
            <a:off x="981075" y="21907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172"/>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User clicks Market Data</a:t>
            </a:r>
          </a:p>
        </p:txBody>
      </p:sp>
      <p:sp>
        <p:nvSpPr>
          <p:cNvPr id="9" name="">
            <a:extLst xmlns:a="http://schemas.openxmlformats.org/drawingml/2006/main">
              <a:ext uri="{FF2B5EF4-FFF2-40B4-BE49-F238E27FC236}">
                <a16:creationId xmlns:a16="http://schemas.microsoft.com/office/drawing/2014/main" id="{C37DC8AA-1A85-4325-ACBC-0064EF4F7BBF}"/>
              </a:ext>
            </a:extLst>
          </p:cNvPr>
          <p:cNvSpPr>
            <a:spLocks xmlns:a="http://schemas.openxmlformats.org/drawingml/2006/main" noGrp="1"/>
          </p:cNvSpPr>
          <p:nvPr/>
        </p:nvSpPr>
        <p:spPr>
          <a:xfrm xmlns:a="http://schemas.openxmlformats.org/drawingml/2006/main">
            <a:off x="3714750" y="1790700"/>
            <a:ext cx="2190750" cy="819150"/>
          </a:xfrm>
          <a:prstGeom xmlns:a="http://schemas.openxmlformats.org/drawingml/2006/main" prst="roundRect">
            <a:avLst>
              <a:gd name="adj" fmla="val 9302"/>
            </a:avLst>
          </a:prstGeom>
          <a:ln xmlns:a="http://schemas.openxmlformats.org/drawingml/2006/main" w="11430">
            <a:solidFill>
              <a:srgbClr val="2DD4BF"/>
            </a:solidFill>
            <a:prstDash val="solid"/>
          </a:ln>
        </p:spPr>
      </p:sp>
      <p:sp>
        <p:nvSpPr>
          <p:cNvPr id="10" name="">
            <a:extLst xmlns:a="http://schemas.openxmlformats.org/drawingml/2006/main">
              <a:ext uri="{FF2B5EF4-FFF2-40B4-BE49-F238E27FC236}">
                <a16:creationId xmlns:a16="http://schemas.microsoft.com/office/drawing/2014/main" id="{5D5698AE-EA6D-43EC-8B67-FADAA6EE3412}"/>
              </a:ext>
            </a:extLst>
          </p:cNvPr>
          <p:cNvSpPr>
            <a:spLocks xmlns:a="http://schemas.openxmlformats.org/drawingml/2006/main" noGrp="1"/>
          </p:cNvSpPr>
          <p:nvPr/>
        </p:nvSpPr>
        <p:spPr>
          <a:xfrm xmlns:a="http://schemas.openxmlformats.org/drawingml/2006/main">
            <a:off x="3867150" y="19050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INTERNAL</a:t>
            </a:r>
          </a:p>
        </p:txBody>
      </p:sp>
      <p:sp>
        <p:nvSpPr>
          <p:cNvPr id="11" name="">
            <a:extLst xmlns:a="http://schemas.openxmlformats.org/drawingml/2006/main">
              <a:ext uri="{FF2B5EF4-FFF2-40B4-BE49-F238E27FC236}">
                <a16:creationId xmlns:a16="http://schemas.microsoft.com/office/drawing/2014/main" id="{C54844AB-DEF0-4C6E-AC5C-9003A34BEE0D}"/>
              </a:ext>
            </a:extLst>
          </p:cNvPr>
          <p:cNvSpPr>
            <a:spLocks xmlns:a="http://schemas.openxmlformats.org/drawingml/2006/main" noGrp="1"/>
          </p:cNvSpPr>
          <p:nvPr/>
        </p:nvSpPr>
        <p:spPr>
          <a:xfrm xmlns:a="http://schemas.openxmlformats.org/drawingml/2006/main">
            <a:off x="3886200" y="21907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2"/>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Python MCP client</a:t>
            </a:r>
          </a:p>
        </p:txBody>
      </p:sp>
      <p:sp>
        <p:nvSpPr>
          <p:cNvPr id="12" name="">
            <a:extLst xmlns:a="http://schemas.openxmlformats.org/drawingml/2006/main">
              <a:ext uri="{FF2B5EF4-FFF2-40B4-BE49-F238E27FC236}">
                <a16:creationId xmlns:a16="http://schemas.microsoft.com/office/drawing/2014/main" id="{A9C14B35-D9FB-4FC5-8A04-CAC06C33AE1E}"/>
              </a:ext>
            </a:extLst>
          </p:cNvPr>
          <p:cNvSpPr>
            <a:spLocks xmlns:a="http://schemas.openxmlformats.org/drawingml/2006/main" noGrp="1"/>
          </p:cNvSpPr>
          <p:nvPr/>
        </p:nvSpPr>
        <p:spPr>
          <a:xfrm xmlns:a="http://schemas.openxmlformats.org/drawingml/2006/main">
            <a:off x="809625" y="4133850"/>
            <a:ext cx="2190750" cy="819150"/>
          </a:xfrm>
          <a:prstGeom xmlns:a="http://schemas.openxmlformats.org/drawingml/2006/main" prst="roundRect">
            <a:avLst>
              <a:gd name="adj" fmla="val 9302"/>
            </a:avLst>
          </a:prstGeom>
          <a:ln xmlns:a="http://schemas.openxmlformats.org/drawingml/2006/main" w="11430">
            <a:solidFill>
              <a:srgbClr val="38BDF8"/>
            </a:solidFill>
            <a:prstDash val="solid"/>
          </a:ln>
        </p:spPr>
      </p:sp>
      <p:sp>
        <p:nvSpPr>
          <p:cNvPr id="13" name="">
            <a:extLst xmlns:a="http://schemas.openxmlformats.org/drawingml/2006/main">
              <a:ext uri="{FF2B5EF4-FFF2-40B4-BE49-F238E27FC236}">
                <a16:creationId xmlns:a16="http://schemas.microsoft.com/office/drawing/2014/main" id="{2D25D723-EEF5-4202-A85B-8440918E60FE}"/>
              </a:ext>
            </a:extLst>
          </p:cNvPr>
          <p:cNvSpPr>
            <a:spLocks xmlns:a="http://schemas.openxmlformats.org/drawingml/2006/main" noGrp="1"/>
          </p:cNvSpPr>
          <p:nvPr/>
        </p:nvSpPr>
        <p:spPr>
          <a:xfrm xmlns:a="http://schemas.openxmlformats.org/drawingml/2006/main">
            <a:off x="962025" y="424815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CLI</a:t>
            </a:r>
          </a:p>
        </p:txBody>
      </p:sp>
      <p:sp>
        <p:nvSpPr>
          <p:cNvPr id="14" name="">
            <a:extLst xmlns:a="http://schemas.openxmlformats.org/drawingml/2006/main">
              <a:ext uri="{FF2B5EF4-FFF2-40B4-BE49-F238E27FC236}">
                <a16:creationId xmlns:a16="http://schemas.microsoft.com/office/drawing/2014/main" id="{2DE485EB-5C37-4869-82BD-5D9274BF53D3}"/>
              </a:ext>
            </a:extLst>
          </p:cNvPr>
          <p:cNvSpPr>
            <a:spLocks xmlns:a="http://schemas.openxmlformats.org/drawingml/2006/main" noGrp="1"/>
          </p:cNvSpPr>
          <p:nvPr/>
        </p:nvSpPr>
        <p:spPr>
          <a:xfrm xmlns:a="http://schemas.openxmlformats.org/drawingml/2006/main">
            <a:off x="981075" y="453390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Python CLI demo</a:t>
            </a:r>
          </a:p>
        </p:txBody>
      </p:sp>
      <p:sp>
        <p:nvSpPr>
          <p:cNvPr id="15" name="">
            <a:extLst xmlns:a="http://schemas.openxmlformats.org/drawingml/2006/main">
              <a:ext uri="{FF2B5EF4-FFF2-40B4-BE49-F238E27FC236}">
                <a16:creationId xmlns:a16="http://schemas.microsoft.com/office/drawing/2014/main" id="{0EA7AF68-3825-4844-A65F-1E6ADEA8F4AA}"/>
              </a:ext>
            </a:extLst>
          </p:cNvPr>
          <p:cNvSpPr>
            <a:spLocks xmlns:a="http://schemas.openxmlformats.org/drawingml/2006/main" noGrp="1"/>
          </p:cNvSpPr>
          <p:nvPr/>
        </p:nvSpPr>
        <p:spPr>
          <a:xfrm xmlns:a="http://schemas.openxmlformats.org/drawingml/2006/main">
            <a:off x="3714750" y="4133850"/>
            <a:ext cx="2190750" cy="819150"/>
          </a:xfrm>
          <a:prstGeom xmlns:a="http://schemas.openxmlformats.org/drawingml/2006/main" prst="roundRect">
            <a:avLst>
              <a:gd name="adj" fmla="val 9302"/>
            </a:avLst>
          </a:prstGeom>
          <a:ln xmlns:a="http://schemas.openxmlformats.org/drawingml/2006/main" w="11430">
            <a:solidFill>
              <a:srgbClr val="2DD4BF"/>
            </a:solidFill>
            <a:prstDash val="solid"/>
          </a:ln>
        </p:spPr>
      </p:sp>
      <p:sp>
        <p:nvSpPr>
          <p:cNvPr id="16" name="">
            <a:extLst xmlns:a="http://schemas.openxmlformats.org/drawingml/2006/main">
              <a:ext uri="{FF2B5EF4-FFF2-40B4-BE49-F238E27FC236}">
                <a16:creationId xmlns:a16="http://schemas.microsoft.com/office/drawing/2014/main" id="{E1C1996F-A692-4D23-A226-B1440D612E65}"/>
              </a:ext>
            </a:extLst>
          </p:cNvPr>
          <p:cNvSpPr>
            <a:spLocks xmlns:a="http://schemas.openxmlformats.org/drawingml/2006/main" noGrp="1"/>
          </p:cNvSpPr>
          <p:nvPr/>
        </p:nvSpPr>
        <p:spPr>
          <a:xfrm xmlns:a="http://schemas.openxmlformats.org/drawingml/2006/main">
            <a:off x="3867150" y="424815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EXTERNAL</a:t>
            </a:r>
          </a:p>
        </p:txBody>
      </p:sp>
      <p:sp>
        <p:nvSpPr>
          <p:cNvPr id="17" name="">
            <a:extLst xmlns:a="http://schemas.openxmlformats.org/drawingml/2006/main">
              <a:ext uri="{FF2B5EF4-FFF2-40B4-BE49-F238E27FC236}">
                <a16:creationId xmlns:a16="http://schemas.microsoft.com/office/drawing/2014/main" id="{165D99EE-9577-4062-8387-6DE8149A6F93}"/>
              </a:ext>
            </a:extLst>
          </p:cNvPr>
          <p:cNvSpPr>
            <a:spLocks xmlns:a="http://schemas.openxmlformats.org/drawingml/2006/main" noGrp="1"/>
          </p:cNvSpPr>
          <p:nvPr/>
        </p:nvSpPr>
        <p:spPr>
          <a:xfrm xmlns:a="http://schemas.openxmlformats.org/drawingml/2006/main">
            <a:off x="3886200" y="453390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672"/>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Streamable HTTP client</a:t>
            </a:r>
          </a:p>
        </p:txBody>
      </p:sp>
      <p:sp>
        <p:nvSpPr>
          <p:cNvPr id="18" name="">
            <a:extLst xmlns:a="http://schemas.openxmlformats.org/drawingml/2006/main">
              <a:ext uri="{FF2B5EF4-FFF2-40B4-BE49-F238E27FC236}">
                <a16:creationId xmlns:a16="http://schemas.microsoft.com/office/drawing/2014/main" id="{9A8A7738-394F-4FC9-8547-584E9BA96725}"/>
              </a:ext>
            </a:extLst>
          </p:cNvPr>
          <p:cNvSpPr>
            <a:spLocks xmlns:a="http://schemas.openxmlformats.org/drawingml/2006/main" noGrp="1"/>
          </p:cNvSpPr>
          <p:nvPr/>
        </p:nvSpPr>
        <p:spPr>
          <a:xfrm xmlns:a="http://schemas.openxmlformats.org/drawingml/2006/main">
            <a:off x="7000875" y="2952750"/>
            <a:ext cx="2190750" cy="1047750"/>
          </a:xfrm>
          <a:prstGeom xmlns:a="http://schemas.openxmlformats.org/drawingml/2006/main" prst="roundRect">
            <a:avLst>
              <a:gd name="adj" fmla="val 7273"/>
            </a:avLst>
          </a:prstGeom>
          <a:ln xmlns:a="http://schemas.openxmlformats.org/drawingml/2006/main" w="11430">
            <a:solidFill>
              <a:srgbClr val="4ADE80"/>
            </a:solidFill>
            <a:prstDash val="solid"/>
          </a:ln>
        </p:spPr>
      </p:sp>
      <p:sp>
        <p:nvSpPr>
          <p:cNvPr id="19" name="">
            <a:extLst xmlns:a="http://schemas.openxmlformats.org/drawingml/2006/main">
              <a:ext uri="{FF2B5EF4-FFF2-40B4-BE49-F238E27FC236}">
                <a16:creationId xmlns:a16="http://schemas.microsoft.com/office/drawing/2014/main" id="{4928F941-6714-4620-88B8-E4665394F9B7}"/>
              </a:ext>
            </a:extLst>
          </p:cNvPr>
          <p:cNvSpPr>
            <a:spLocks xmlns:a="http://schemas.openxmlformats.org/drawingml/2006/main" noGrp="1"/>
          </p:cNvSpPr>
          <p:nvPr/>
        </p:nvSpPr>
        <p:spPr>
          <a:xfrm xmlns:a="http://schemas.openxmlformats.org/drawingml/2006/main">
            <a:off x="7153275" y="306705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SERVER</a:t>
            </a:r>
          </a:p>
        </p:txBody>
      </p:sp>
      <p:sp>
        <p:nvSpPr>
          <p:cNvPr id="20" name="">
            <a:extLst xmlns:a="http://schemas.openxmlformats.org/drawingml/2006/main">
              <a:ext uri="{FF2B5EF4-FFF2-40B4-BE49-F238E27FC236}">
                <a16:creationId xmlns:a16="http://schemas.microsoft.com/office/drawing/2014/main" id="{2B37339A-CD49-4D39-8B3F-FAF4112F8304}"/>
              </a:ext>
            </a:extLst>
          </p:cNvPr>
          <p:cNvSpPr>
            <a:spLocks xmlns:a="http://schemas.openxmlformats.org/drawingml/2006/main" noGrp="1"/>
          </p:cNvSpPr>
          <p:nvPr/>
        </p:nvSpPr>
        <p:spPr>
          <a:xfrm xmlns:a="http://schemas.openxmlformats.org/drawingml/2006/main">
            <a:off x="7172325" y="3352800"/>
            <a:ext cx="1847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lgn="ctr">
              <a:buNone/>
              <a:defRPr sz="1800" b="1">
                <a:solidFill>
                  <a:srgbClr val="EDF6FF"/>
                </a:solidFill>
                <a:latin typeface="Aptos"/>
                <a:ea typeface="Aptos"/>
                <a:cs typeface="Aptos"/>
              </a:defRPr>
            </a:pPr>
            <a:r>
              <a:rPr sz="1800" b="1">
                <a:solidFill>
                  <a:srgbClr val="EDF6FF"/>
                </a:solidFill>
                <a:latin typeface="Aptos"/>
                <a:ea typeface="Aptos"/>
                <a:cs typeface="Aptos"/>
              </a:rPr>
              <a:t>Market Data MCP</a:t>
            </a:r>
          </a:p>
        </p:txBody>
      </p:sp>
      <p:sp>
        <p:nvSpPr>
          <p:cNvPr id="21" name="">
            <a:extLst xmlns:a="http://schemas.openxmlformats.org/drawingml/2006/main">
              <a:ext uri="{FF2B5EF4-FFF2-40B4-BE49-F238E27FC236}">
                <a16:creationId xmlns:a16="http://schemas.microsoft.com/office/drawing/2014/main" id="{383D95C6-0272-4750-94D9-12E10D0E22F3}"/>
              </a:ext>
            </a:extLst>
          </p:cNvPr>
          <p:cNvSpPr>
            <a:spLocks xmlns:a="http://schemas.openxmlformats.org/drawingml/2006/main" noGrp="1"/>
          </p:cNvSpPr>
          <p:nvPr/>
        </p:nvSpPr>
        <p:spPr>
          <a:xfrm xmlns:a="http://schemas.openxmlformats.org/drawingml/2006/main">
            <a:off x="9810750" y="2952750"/>
            <a:ext cx="1619250" cy="1047750"/>
          </a:xfrm>
          <a:prstGeom xmlns:a="http://schemas.openxmlformats.org/drawingml/2006/main" prst="roundRect">
            <a:avLst>
              <a:gd name="adj" fmla="val 7273"/>
            </a:avLst>
          </a:prstGeom>
          <a:ln xmlns:a="http://schemas.openxmlformats.org/drawingml/2006/main" w="11430">
            <a:solidFill>
              <a:srgbClr val="2A3D50"/>
            </a:solidFill>
            <a:prstDash val="solid"/>
          </a:ln>
        </p:spPr>
      </p:sp>
      <p:sp>
        <p:nvSpPr>
          <p:cNvPr id="22" name="">
            <a:extLst xmlns:a="http://schemas.openxmlformats.org/drawingml/2006/main">
              <a:ext uri="{FF2B5EF4-FFF2-40B4-BE49-F238E27FC236}">
                <a16:creationId xmlns:a16="http://schemas.microsoft.com/office/drawing/2014/main" id="{F7DF9257-0B02-4536-A9DE-C461096A9EEC}"/>
              </a:ext>
            </a:extLst>
          </p:cNvPr>
          <p:cNvSpPr>
            <a:spLocks xmlns:a="http://schemas.openxmlformats.org/drawingml/2006/main" noGrp="1"/>
          </p:cNvSpPr>
          <p:nvPr/>
        </p:nvSpPr>
        <p:spPr>
          <a:xfrm xmlns:a="http://schemas.openxmlformats.org/drawingml/2006/main">
            <a:off x="9963150" y="3067050"/>
            <a:ext cx="1314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PROVIDER</a:t>
            </a:r>
          </a:p>
        </p:txBody>
      </p:sp>
      <p:sp>
        <p:nvSpPr>
          <p:cNvPr id="23" name="">
            <a:extLst xmlns:a="http://schemas.openxmlformats.org/drawingml/2006/main">
              <a:ext uri="{FF2B5EF4-FFF2-40B4-BE49-F238E27FC236}">
                <a16:creationId xmlns:a16="http://schemas.microsoft.com/office/drawing/2014/main" id="{80FA6843-5F39-45DB-A75D-FA6505EC1F9E}"/>
              </a:ext>
            </a:extLst>
          </p:cNvPr>
          <p:cNvSpPr>
            <a:spLocks xmlns:a="http://schemas.openxmlformats.org/drawingml/2006/main" noGrp="1"/>
          </p:cNvSpPr>
          <p:nvPr/>
        </p:nvSpPr>
        <p:spPr>
          <a:xfrm xmlns:a="http://schemas.openxmlformats.org/drawingml/2006/main">
            <a:off x="9982200" y="3352800"/>
            <a:ext cx="1276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350" b="1">
                <a:solidFill>
                  <a:srgbClr val="EDF6FF"/>
                </a:solidFill>
                <a:latin typeface="Aptos"/>
                <a:ea typeface="Aptos"/>
                <a:cs typeface="Aptos"/>
              </a:defRPr>
            </a:pPr>
            <a:r>
              <a:rPr sz="1350" b="1">
                <a:solidFill>
                  <a:srgbClr val="EDF6FF"/>
                </a:solidFill>
                <a:latin typeface="Aptos"/>
                <a:ea typeface="Aptos"/>
                <a:cs typeface="Aptos"/>
              </a:rPr>
              <a:t>Yahoo snapshots</a:t>
            </a:r>
          </a:p>
        </p:txBody>
      </p:sp>
      <p:cxnSp>
        <p:nvCxnSpPr>
          <p:cNvPr id="54" name="">
            <a:extLst xmlns:a="http://schemas.openxmlformats.org/drawingml/2006/main">
              <a:ext uri="{FF2B5EF4-FFF2-40B4-BE49-F238E27FC236}">
                <a16:creationId xmlns:a16="http://schemas.microsoft.com/office/drawing/2014/main" id="{4EAC2A07-9DE7-4E73-9232-07D1F6B710FD}"/>
              </a:ext>
            </a:extLst>
          </p:cNvPr>
          <p:cNvCxnSpPr>
            <a:stCxn xmlns:a="http://schemas.openxmlformats.org/drawingml/2006/main" id="6" idx="3"/>
            <a:endCxn xmlns:a="http://schemas.openxmlformats.org/drawingml/2006/main" id="9" idx="1"/>
          </p:cNvCxnSpPr>
          <p:nvPr/>
        </p:nvCxnSpPr>
        <p:spPr>
          <a:xfrm xmlns:a="http://schemas.openxmlformats.org/drawingml/2006/main">
            <a:off x="3000375" y="2200275"/>
            <a:ext cx="714375"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5" name="">
            <a:extLst xmlns:a="http://schemas.openxmlformats.org/drawingml/2006/main">
              <a:ext uri="{FF2B5EF4-FFF2-40B4-BE49-F238E27FC236}">
                <a16:creationId xmlns:a16="http://schemas.microsoft.com/office/drawing/2014/main" id="{2FEDABF9-F541-444C-90FA-945383BFB263}"/>
              </a:ext>
            </a:extLst>
          </p:cNvPr>
          <p:cNvCxnSpPr>
            <a:stCxn xmlns:a="http://schemas.openxmlformats.org/drawingml/2006/main" id="12" idx="3"/>
            <a:endCxn xmlns:a="http://schemas.openxmlformats.org/drawingml/2006/main" id="15" idx="1"/>
          </p:cNvCxnSpPr>
          <p:nvPr/>
        </p:nvCxnSpPr>
        <p:spPr>
          <a:xfrm xmlns:a="http://schemas.openxmlformats.org/drawingml/2006/main">
            <a:off x="3000375" y="4543425"/>
            <a:ext cx="714375"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6" name="">
            <a:extLst xmlns:a="http://schemas.openxmlformats.org/drawingml/2006/main">
              <a:ext uri="{FF2B5EF4-FFF2-40B4-BE49-F238E27FC236}">
                <a16:creationId xmlns:a16="http://schemas.microsoft.com/office/drawing/2014/main" id="{A6F31721-9FCD-4FB4-A4F6-82E1F275D100}"/>
              </a:ext>
            </a:extLst>
          </p:cNvPr>
          <p:cNvCxnSpPr>
            <a:stCxn xmlns:a="http://schemas.openxmlformats.org/drawingml/2006/main" id="9" idx="3"/>
            <a:endCxn xmlns:a="http://schemas.openxmlformats.org/drawingml/2006/main" id="18" idx="1"/>
          </p:cNvCxnSpPr>
          <p:nvPr/>
        </p:nvCxnSpPr>
        <p:spPr>
          <a:xfrm xmlns:a="http://schemas.openxmlformats.org/drawingml/2006/main">
            <a:off x="5905500" y="2200275"/>
            <a:ext cx="1095375" cy="127635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7" name="">
            <a:extLst xmlns:a="http://schemas.openxmlformats.org/drawingml/2006/main">
              <a:ext uri="{FF2B5EF4-FFF2-40B4-BE49-F238E27FC236}">
                <a16:creationId xmlns:a16="http://schemas.microsoft.com/office/drawing/2014/main" id="{2B6353AE-8201-4DD9-99D9-ACB8F913BFDB}"/>
              </a:ext>
            </a:extLst>
          </p:cNvPr>
          <p:cNvCxnSpPr>
            <a:stCxn xmlns:a="http://schemas.openxmlformats.org/drawingml/2006/main" id="15" idx="3"/>
            <a:endCxn xmlns:a="http://schemas.openxmlformats.org/drawingml/2006/main" id="18" idx="1"/>
          </p:cNvCxnSpPr>
          <p:nvPr/>
        </p:nvCxnSpPr>
        <p:spPr>
          <a:xfrm xmlns:a="http://schemas.openxmlformats.org/drawingml/2006/main" flipV="1">
            <a:off x="5905500" y="3476625"/>
            <a:ext cx="1095375" cy="106680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cxnSp>
        <p:nvCxnSpPr>
          <p:cNvPr id="58" name="">
            <a:extLst xmlns:a="http://schemas.openxmlformats.org/drawingml/2006/main">
              <a:ext uri="{FF2B5EF4-FFF2-40B4-BE49-F238E27FC236}">
                <a16:creationId xmlns:a16="http://schemas.microsoft.com/office/drawing/2014/main" id="{A7360E7D-42F4-48D6-8D78-E7070FD65BBA}"/>
              </a:ext>
            </a:extLst>
          </p:cNvPr>
          <p:cNvCxnSpPr>
            <a:stCxn xmlns:a="http://schemas.openxmlformats.org/drawingml/2006/main" id="18" idx="3"/>
            <a:endCxn xmlns:a="http://schemas.openxmlformats.org/drawingml/2006/main" id="21" idx="1"/>
          </p:cNvCxnSpPr>
          <p:nvPr/>
        </p:nvCxnSpPr>
        <p:spPr>
          <a:xfrm xmlns:a="http://schemas.openxmlformats.org/drawingml/2006/main">
            <a:off x="9191625" y="3476625"/>
            <a:ext cx="619125" cy="0"/>
          </a:xfrm>
          <a:prstGeom xmlns:a="http://schemas.openxmlformats.org/drawingml/2006/main" prst="straightConnector1">
            <a:avLst/>
          </a:prstGeom>
          <a:ln xmlns:a="http://schemas.openxmlformats.org/drawingml/2006/main" w="22860">
            <a:solidFill>
              <a:srgbClr val="2DD4BF"/>
            </a:solidFill>
            <a:prstDash val="solid"/>
            <a:headEnd type="arrow" w="med" len="med"/>
          </a:ln>
        </p:spPr>
      </p:cxnSp>
      <p:sp>
        <p:nvSpPr>
          <p:cNvPr id="29" name="">
            <a:extLst xmlns:a="http://schemas.openxmlformats.org/drawingml/2006/main">
              <a:ext uri="{FF2B5EF4-FFF2-40B4-BE49-F238E27FC236}">
                <a16:creationId xmlns:a16="http://schemas.microsoft.com/office/drawing/2014/main" id="{72F2C8AA-3336-4065-94DD-7472F96E409B}"/>
              </a:ext>
            </a:extLst>
          </p:cNvPr>
          <p:cNvSpPr>
            <a:spLocks xmlns:a="http://schemas.openxmlformats.org/drawingml/2006/main" noGrp="1"/>
          </p:cNvSpPr>
          <p:nvPr/>
        </p:nvSpPr>
        <p:spPr>
          <a:xfrm xmlns:a="http://schemas.openxmlformats.org/drawingml/2006/main">
            <a:off x="2571750" y="565785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Yahoo snapshots need no API keys. Prices may be delayed.</a:t>
            </a:r>
          </a:p>
        </p:txBody>
      </p:sp>
      <p:sp>
        <p:nvSpPr>
          <p:cNvPr id="30" name="">
            <a:extLst xmlns:a="http://schemas.openxmlformats.org/drawingml/2006/main">
              <a:ext uri="{FF2B5EF4-FFF2-40B4-BE49-F238E27FC236}">
                <a16:creationId xmlns:a16="http://schemas.microsoft.com/office/drawing/2014/main" id="{4AE67DCE-339A-4BD8-9834-DE7615277C62}"/>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06</a:t>
            </a:r>
          </a:p>
        </p:txBody>
      </p:sp>
    </p:spTree>
    <p:extLst>
      <p:ext uri="{BB962C8B-B14F-4D97-AF65-F5344CB8AC3E}">
        <p14:creationId xmlns:p14="http://schemas.microsoft.com/office/powerpoint/2010/main" val="867320185"/>
      </p:ext>
    </p:extLst>
  </p:cSld>
</p:sld>
</file>

<file path=ppt/slides/slide7.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1D7EDAF-78B0-4916-8FB1-2FE1F5DD30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0CB162-624F-49AB-9878-BE22C10FFA1B}"/>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EA2B5A-A955-469F-9C58-E76E8D4C6634}"/>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450D56-6279-4C45-A65C-38455757734E}"/>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Trading Journal capability map</a:t>
            </a:r>
          </a:p>
        </p:txBody>
      </p:sp>
      <p:sp>
        <p:nvSpPr>
          <p:cNvPr id="5" name="">
            <a:extLst xmlns:a="http://schemas.openxmlformats.org/drawingml/2006/main">
              <a:ext uri="{FF2B5EF4-FFF2-40B4-BE49-F238E27FC236}">
                <a16:creationId xmlns:a16="http://schemas.microsoft.com/office/drawing/2014/main" id="{762EE294-3F1C-45AA-B860-BAD00D9DF888}"/>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Each financial domain has a focused server boundary</a:t>
            </a:r>
          </a:p>
        </p:txBody>
      </p:sp>
      <p:sp>
        <p:nvSpPr>
          <p:cNvPr id="6" name="">
            <a:extLst xmlns:a="http://schemas.openxmlformats.org/drawingml/2006/main">
              <a:ext uri="{FF2B5EF4-FFF2-40B4-BE49-F238E27FC236}">
                <a16:creationId xmlns:a16="http://schemas.microsoft.com/office/drawing/2014/main" id="{9A7BBCB3-78DB-403C-BF27-EB76E10B871C}"/>
              </a:ext>
            </a:extLst>
          </p:cNvPr>
          <p:cNvSpPr>
            <a:spLocks xmlns:a="http://schemas.openxmlformats.org/drawingml/2006/main" noGrp="1"/>
          </p:cNvSpPr>
          <p:nvPr/>
        </p:nvSpPr>
        <p:spPr>
          <a:xfrm xmlns:a="http://schemas.openxmlformats.org/drawingml/2006/main">
            <a:off x="742950" y="1695450"/>
            <a:ext cx="3238500" cy="914400"/>
          </a:xfrm>
          <a:prstGeom xmlns:a="http://schemas.openxmlformats.org/drawingml/2006/main" prst="roundRect">
            <a:avLst>
              <a:gd name="adj" fmla="val 8333"/>
            </a:avLst>
          </a:prstGeom>
          <a:ln xmlns:a="http://schemas.openxmlformats.org/drawingml/2006/main" w="11430">
            <a:solidFill>
              <a:srgbClr val="2DD4BF"/>
            </a:solidFill>
            <a:prstDash val="solid"/>
          </a:ln>
        </p:spPr>
      </p:sp>
      <p:sp>
        <p:nvSpPr>
          <p:cNvPr id="7" name="">
            <a:extLst xmlns:a="http://schemas.openxmlformats.org/drawingml/2006/main">
              <a:ext uri="{FF2B5EF4-FFF2-40B4-BE49-F238E27FC236}">
                <a16:creationId xmlns:a16="http://schemas.microsoft.com/office/drawing/2014/main" id="{18C94332-23EC-4EFD-B80A-A924007CBAF2}"/>
              </a:ext>
            </a:extLst>
          </p:cNvPr>
          <p:cNvSpPr>
            <a:spLocks xmlns:a="http://schemas.openxmlformats.org/drawingml/2006/main" noGrp="1"/>
          </p:cNvSpPr>
          <p:nvPr/>
        </p:nvSpPr>
        <p:spPr>
          <a:xfrm xmlns:a="http://schemas.openxmlformats.org/drawingml/2006/main">
            <a:off x="895350" y="1809750"/>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Portfolio</a:t>
            </a:r>
          </a:p>
        </p:txBody>
      </p:sp>
      <p:sp>
        <p:nvSpPr>
          <p:cNvPr id="8" name="">
            <a:extLst xmlns:a="http://schemas.openxmlformats.org/drawingml/2006/main">
              <a:ext uri="{FF2B5EF4-FFF2-40B4-BE49-F238E27FC236}">
                <a16:creationId xmlns:a16="http://schemas.microsoft.com/office/drawing/2014/main" id="{FB6FC112-3022-41F4-BB2C-E2CFAF7C94BE}"/>
              </a:ext>
            </a:extLst>
          </p:cNvPr>
          <p:cNvSpPr>
            <a:spLocks xmlns:a="http://schemas.openxmlformats.org/drawingml/2006/main" noGrp="1"/>
          </p:cNvSpPr>
          <p:nvPr/>
        </p:nvSpPr>
        <p:spPr>
          <a:xfrm xmlns:a="http://schemas.openxmlformats.org/drawingml/2006/main">
            <a:off x="914400" y="209550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Portfolio records</a:t>
            </a:r>
          </a:p>
        </p:txBody>
      </p:sp>
      <p:sp>
        <p:nvSpPr>
          <p:cNvPr id="9" name="">
            <a:extLst xmlns:a="http://schemas.openxmlformats.org/drawingml/2006/main">
              <a:ext uri="{FF2B5EF4-FFF2-40B4-BE49-F238E27FC236}">
                <a16:creationId xmlns:a16="http://schemas.microsoft.com/office/drawing/2014/main" id="{A945B2FD-F65A-4327-88F4-3FBD72EF5028}"/>
              </a:ext>
            </a:extLst>
          </p:cNvPr>
          <p:cNvSpPr>
            <a:spLocks xmlns:a="http://schemas.openxmlformats.org/drawingml/2006/main" noGrp="1"/>
          </p:cNvSpPr>
          <p:nvPr/>
        </p:nvSpPr>
        <p:spPr>
          <a:xfrm xmlns:a="http://schemas.openxmlformats.org/drawingml/2006/main">
            <a:off x="4552950" y="1695450"/>
            <a:ext cx="3238500" cy="914400"/>
          </a:xfrm>
          <a:prstGeom xmlns:a="http://schemas.openxmlformats.org/drawingml/2006/main" prst="roundRect">
            <a:avLst>
              <a:gd name="adj" fmla="val 8333"/>
            </a:avLst>
          </a:prstGeom>
          <a:ln xmlns:a="http://schemas.openxmlformats.org/drawingml/2006/main" w="11430">
            <a:solidFill>
              <a:srgbClr val="2DD4BF"/>
            </a:solidFill>
            <a:prstDash val="solid"/>
          </a:ln>
        </p:spPr>
      </p:sp>
      <p:sp>
        <p:nvSpPr>
          <p:cNvPr id="10" name="">
            <a:extLst xmlns:a="http://schemas.openxmlformats.org/drawingml/2006/main">
              <a:ext uri="{FF2B5EF4-FFF2-40B4-BE49-F238E27FC236}">
                <a16:creationId xmlns:a16="http://schemas.microsoft.com/office/drawing/2014/main" id="{87995473-3FBF-42C3-BD55-461F8AB427F7}"/>
              </a:ext>
            </a:extLst>
          </p:cNvPr>
          <p:cNvSpPr>
            <a:spLocks xmlns:a="http://schemas.openxmlformats.org/drawingml/2006/main" noGrp="1"/>
          </p:cNvSpPr>
          <p:nvPr/>
        </p:nvSpPr>
        <p:spPr>
          <a:xfrm xmlns:a="http://schemas.openxmlformats.org/drawingml/2006/main">
            <a:off x="4705350" y="1809750"/>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Market Data</a:t>
            </a:r>
          </a:p>
        </p:txBody>
      </p:sp>
      <p:sp>
        <p:nvSpPr>
          <p:cNvPr id="11" name="">
            <a:extLst xmlns:a="http://schemas.openxmlformats.org/drawingml/2006/main">
              <a:ext uri="{FF2B5EF4-FFF2-40B4-BE49-F238E27FC236}">
                <a16:creationId xmlns:a16="http://schemas.microsoft.com/office/drawing/2014/main" id="{D31792AC-A9D9-4BD8-815E-4B4B0264A7FE}"/>
              </a:ext>
            </a:extLst>
          </p:cNvPr>
          <p:cNvSpPr>
            <a:spLocks xmlns:a="http://schemas.openxmlformats.org/drawingml/2006/main" noGrp="1"/>
          </p:cNvSpPr>
          <p:nvPr/>
        </p:nvSpPr>
        <p:spPr>
          <a:xfrm xmlns:a="http://schemas.openxmlformats.org/drawingml/2006/main">
            <a:off x="4724400" y="209550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Yahoo price snapshots</a:t>
            </a:r>
          </a:p>
        </p:txBody>
      </p:sp>
      <p:sp>
        <p:nvSpPr>
          <p:cNvPr id="12" name="">
            <a:extLst xmlns:a="http://schemas.openxmlformats.org/drawingml/2006/main">
              <a:ext uri="{FF2B5EF4-FFF2-40B4-BE49-F238E27FC236}">
                <a16:creationId xmlns:a16="http://schemas.microsoft.com/office/drawing/2014/main" id="{30DA242A-C8DE-4E02-B549-01B9F6C94FC2}"/>
              </a:ext>
            </a:extLst>
          </p:cNvPr>
          <p:cNvSpPr>
            <a:spLocks xmlns:a="http://schemas.openxmlformats.org/drawingml/2006/main" noGrp="1"/>
          </p:cNvSpPr>
          <p:nvPr/>
        </p:nvSpPr>
        <p:spPr>
          <a:xfrm xmlns:a="http://schemas.openxmlformats.org/drawingml/2006/main">
            <a:off x="8362950" y="1695450"/>
            <a:ext cx="3238500" cy="914400"/>
          </a:xfrm>
          <a:prstGeom xmlns:a="http://schemas.openxmlformats.org/drawingml/2006/main" prst="roundRect">
            <a:avLst>
              <a:gd name="adj" fmla="val 8333"/>
            </a:avLst>
          </a:prstGeom>
          <a:ln xmlns:a="http://schemas.openxmlformats.org/drawingml/2006/main" w="11430">
            <a:solidFill>
              <a:srgbClr val="2DD4BF"/>
            </a:solidFill>
            <a:prstDash val="solid"/>
          </a:ln>
        </p:spPr>
      </p:sp>
      <p:sp>
        <p:nvSpPr>
          <p:cNvPr id="13" name="">
            <a:extLst xmlns:a="http://schemas.openxmlformats.org/drawingml/2006/main">
              <a:ext uri="{FF2B5EF4-FFF2-40B4-BE49-F238E27FC236}">
                <a16:creationId xmlns:a16="http://schemas.microsoft.com/office/drawing/2014/main" id="{C3EB3F1B-B617-4FCC-AED9-3EB2155D0C7F}"/>
              </a:ext>
            </a:extLst>
          </p:cNvPr>
          <p:cNvSpPr>
            <a:spLocks xmlns:a="http://schemas.openxmlformats.org/drawingml/2006/main" noGrp="1"/>
          </p:cNvSpPr>
          <p:nvPr/>
        </p:nvSpPr>
        <p:spPr>
          <a:xfrm xmlns:a="http://schemas.openxmlformats.org/drawingml/2006/main">
            <a:off x="8515350" y="1809750"/>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News</a:t>
            </a:r>
          </a:p>
        </p:txBody>
      </p:sp>
      <p:sp>
        <p:nvSpPr>
          <p:cNvPr id="14" name="">
            <a:extLst xmlns:a="http://schemas.openxmlformats.org/drawingml/2006/main">
              <a:ext uri="{FF2B5EF4-FFF2-40B4-BE49-F238E27FC236}">
                <a16:creationId xmlns:a16="http://schemas.microsoft.com/office/drawing/2014/main" id="{73DC445F-B188-4832-A1E7-AA71CFC6525A}"/>
              </a:ext>
            </a:extLst>
          </p:cNvPr>
          <p:cNvSpPr>
            <a:spLocks xmlns:a="http://schemas.openxmlformats.org/drawingml/2006/main" noGrp="1"/>
          </p:cNvSpPr>
          <p:nvPr/>
        </p:nvSpPr>
        <p:spPr>
          <a:xfrm xmlns:a="http://schemas.openxmlformats.org/drawingml/2006/main">
            <a:off x="8534400" y="209550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Stock news through Yahoo</a:t>
            </a:r>
          </a:p>
        </p:txBody>
      </p:sp>
      <p:sp>
        <p:nvSpPr>
          <p:cNvPr id="15" name="">
            <a:extLst xmlns:a="http://schemas.openxmlformats.org/drawingml/2006/main">
              <a:ext uri="{FF2B5EF4-FFF2-40B4-BE49-F238E27FC236}">
                <a16:creationId xmlns:a16="http://schemas.microsoft.com/office/drawing/2014/main" id="{0F879EEC-D8A6-4243-9855-AD23D966F9EF}"/>
              </a:ext>
            </a:extLst>
          </p:cNvPr>
          <p:cNvSpPr>
            <a:spLocks xmlns:a="http://schemas.openxmlformats.org/drawingml/2006/main" noGrp="1"/>
          </p:cNvSpPr>
          <p:nvPr/>
        </p:nvSpPr>
        <p:spPr>
          <a:xfrm xmlns:a="http://schemas.openxmlformats.org/drawingml/2006/main">
            <a:off x="742950" y="3314700"/>
            <a:ext cx="3238500" cy="914400"/>
          </a:xfrm>
          <a:prstGeom xmlns:a="http://schemas.openxmlformats.org/drawingml/2006/main" prst="roundRect">
            <a:avLst>
              <a:gd name="adj" fmla="val 8333"/>
            </a:avLst>
          </a:prstGeom>
          <a:ln xmlns:a="http://schemas.openxmlformats.org/drawingml/2006/main" w="11430">
            <a:solidFill>
              <a:srgbClr val="2DD4BF"/>
            </a:solidFill>
            <a:prstDash val="solid"/>
          </a:ln>
        </p:spPr>
      </p:sp>
      <p:sp>
        <p:nvSpPr>
          <p:cNvPr id="16" name="">
            <a:extLst xmlns:a="http://schemas.openxmlformats.org/drawingml/2006/main">
              <a:ext uri="{FF2B5EF4-FFF2-40B4-BE49-F238E27FC236}">
                <a16:creationId xmlns:a16="http://schemas.microsoft.com/office/drawing/2014/main" id="{CE5AA729-9197-49EF-8635-3E28C60235F6}"/>
              </a:ext>
            </a:extLst>
          </p:cNvPr>
          <p:cNvSpPr>
            <a:spLocks xmlns:a="http://schemas.openxmlformats.org/drawingml/2006/main" noGrp="1"/>
          </p:cNvSpPr>
          <p:nvPr/>
        </p:nvSpPr>
        <p:spPr>
          <a:xfrm xmlns:a="http://schemas.openxmlformats.org/drawingml/2006/main">
            <a:off x="895350" y="3429000"/>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Broker</a:t>
            </a:r>
          </a:p>
        </p:txBody>
      </p:sp>
      <p:sp>
        <p:nvSpPr>
          <p:cNvPr id="17" name="">
            <a:extLst xmlns:a="http://schemas.openxmlformats.org/drawingml/2006/main">
              <a:ext uri="{FF2B5EF4-FFF2-40B4-BE49-F238E27FC236}">
                <a16:creationId xmlns:a16="http://schemas.microsoft.com/office/drawing/2014/main" id="{FFD74187-87AA-4DB2-B150-CE619BECBCEA}"/>
              </a:ext>
            </a:extLst>
          </p:cNvPr>
          <p:cNvSpPr>
            <a:spLocks xmlns:a="http://schemas.openxmlformats.org/drawingml/2006/main" noGrp="1"/>
          </p:cNvSpPr>
          <p:nvPr/>
        </p:nvSpPr>
        <p:spPr>
          <a:xfrm xmlns:a="http://schemas.openxmlformats.org/drawingml/2006/main">
            <a:off x="914400" y="37147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IBKR sync placeholder</a:t>
            </a:r>
          </a:p>
        </p:txBody>
      </p:sp>
      <p:sp>
        <p:nvSpPr>
          <p:cNvPr id="18" name="">
            <a:extLst xmlns:a="http://schemas.openxmlformats.org/drawingml/2006/main">
              <a:ext uri="{FF2B5EF4-FFF2-40B4-BE49-F238E27FC236}">
                <a16:creationId xmlns:a16="http://schemas.microsoft.com/office/drawing/2014/main" id="{F1E90BF4-DA51-444B-A9D6-C35A1DE32B78}"/>
              </a:ext>
            </a:extLst>
          </p:cNvPr>
          <p:cNvSpPr>
            <a:spLocks xmlns:a="http://schemas.openxmlformats.org/drawingml/2006/main" noGrp="1"/>
          </p:cNvSpPr>
          <p:nvPr/>
        </p:nvSpPr>
        <p:spPr>
          <a:xfrm xmlns:a="http://schemas.openxmlformats.org/drawingml/2006/main">
            <a:off x="4552950" y="3314700"/>
            <a:ext cx="3238500" cy="914400"/>
          </a:xfrm>
          <a:prstGeom xmlns:a="http://schemas.openxmlformats.org/drawingml/2006/main" prst="roundRect">
            <a:avLst>
              <a:gd name="adj" fmla="val 8333"/>
            </a:avLst>
          </a:prstGeom>
          <a:ln xmlns:a="http://schemas.openxmlformats.org/drawingml/2006/main" w="11430">
            <a:solidFill>
              <a:srgbClr val="FB7185"/>
            </a:solidFill>
            <a:prstDash val="solid"/>
          </a:ln>
        </p:spPr>
      </p:sp>
      <p:sp>
        <p:nvSpPr>
          <p:cNvPr id="19" name="">
            <a:extLst xmlns:a="http://schemas.openxmlformats.org/drawingml/2006/main">
              <a:ext uri="{FF2B5EF4-FFF2-40B4-BE49-F238E27FC236}">
                <a16:creationId xmlns:a16="http://schemas.microsoft.com/office/drawing/2014/main" id="{679A721A-5F48-42F6-B76D-678A8783380E}"/>
              </a:ext>
            </a:extLst>
          </p:cNvPr>
          <p:cNvSpPr>
            <a:spLocks xmlns:a="http://schemas.openxmlformats.org/drawingml/2006/main" noGrp="1"/>
          </p:cNvSpPr>
          <p:nvPr/>
        </p:nvSpPr>
        <p:spPr>
          <a:xfrm xmlns:a="http://schemas.openxmlformats.org/drawingml/2006/main">
            <a:off x="4705350" y="3429000"/>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Trading</a:t>
            </a:r>
          </a:p>
        </p:txBody>
      </p:sp>
      <p:sp>
        <p:nvSpPr>
          <p:cNvPr id="20" name="">
            <a:extLst xmlns:a="http://schemas.openxmlformats.org/drawingml/2006/main">
              <a:ext uri="{FF2B5EF4-FFF2-40B4-BE49-F238E27FC236}">
                <a16:creationId xmlns:a16="http://schemas.microsoft.com/office/drawing/2014/main" id="{EDDF6E29-9589-4F7F-8039-0B34CB4B17EA}"/>
              </a:ext>
            </a:extLst>
          </p:cNvPr>
          <p:cNvSpPr>
            <a:spLocks xmlns:a="http://schemas.openxmlformats.org/drawingml/2006/main" noGrp="1"/>
          </p:cNvSpPr>
          <p:nvPr/>
        </p:nvSpPr>
        <p:spPr>
          <a:xfrm xmlns:a="http://schemas.openxmlformats.org/drawingml/2006/main">
            <a:off x="4724400" y="37147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Order preview only</a:t>
            </a:r>
          </a:p>
        </p:txBody>
      </p:sp>
      <p:sp>
        <p:nvSpPr>
          <p:cNvPr id="21" name="">
            <a:extLst xmlns:a="http://schemas.openxmlformats.org/drawingml/2006/main">
              <a:ext uri="{FF2B5EF4-FFF2-40B4-BE49-F238E27FC236}">
                <a16:creationId xmlns:a16="http://schemas.microsoft.com/office/drawing/2014/main" id="{119CC70C-8123-4427-8BCD-F8BDDD964798}"/>
              </a:ext>
            </a:extLst>
          </p:cNvPr>
          <p:cNvSpPr>
            <a:spLocks xmlns:a="http://schemas.openxmlformats.org/drawingml/2006/main" noGrp="1"/>
          </p:cNvSpPr>
          <p:nvPr/>
        </p:nvSpPr>
        <p:spPr>
          <a:xfrm xmlns:a="http://schemas.openxmlformats.org/drawingml/2006/main">
            <a:off x="8362950" y="3314700"/>
            <a:ext cx="3238500" cy="914400"/>
          </a:xfrm>
          <a:prstGeom xmlns:a="http://schemas.openxmlformats.org/drawingml/2006/main" prst="roundRect">
            <a:avLst>
              <a:gd name="adj" fmla="val 8333"/>
            </a:avLst>
          </a:prstGeom>
          <a:ln xmlns:a="http://schemas.openxmlformats.org/drawingml/2006/main" w="11430">
            <a:solidFill>
              <a:srgbClr val="2DD4BF"/>
            </a:solidFill>
            <a:prstDash val="solid"/>
          </a:ln>
        </p:spPr>
      </p:sp>
      <p:sp>
        <p:nvSpPr>
          <p:cNvPr id="22" name="">
            <a:extLst xmlns:a="http://schemas.openxmlformats.org/drawingml/2006/main">
              <a:ext uri="{FF2B5EF4-FFF2-40B4-BE49-F238E27FC236}">
                <a16:creationId xmlns:a16="http://schemas.microsoft.com/office/drawing/2014/main" id="{A67E2AD5-D504-422D-9AD6-BD159DF08EA9}"/>
              </a:ext>
            </a:extLst>
          </p:cNvPr>
          <p:cNvSpPr>
            <a:spLocks xmlns:a="http://schemas.openxmlformats.org/drawingml/2006/main" noGrp="1"/>
          </p:cNvSpPr>
          <p:nvPr/>
        </p:nvSpPr>
        <p:spPr>
          <a:xfrm xmlns:a="http://schemas.openxmlformats.org/drawingml/2006/main">
            <a:off x="8515350" y="3429000"/>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Audit</a:t>
            </a:r>
          </a:p>
        </p:txBody>
      </p:sp>
      <p:sp>
        <p:nvSpPr>
          <p:cNvPr id="23" name="">
            <a:extLst xmlns:a="http://schemas.openxmlformats.org/drawingml/2006/main">
              <a:ext uri="{FF2B5EF4-FFF2-40B4-BE49-F238E27FC236}">
                <a16:creationId xmlns:a16="http://schemas.microsoft.com/office/drawing/2014/main" id="{AA09646F-0E2B-46C7-83CD-8AC281D17B44}"/>
              </a:ext>
            </a:extLst>
          </p:cNvPr>
          <p:cNvSpPr>
            <a:spLocks xmlns:a="http://schemas.openxmlformats.org/drawingml/2006/main" noGrp="1"/>
          </p:cNvSpPr>
          <p:nvPr/>
        </p:nvSpPr>
        <p:spPr>
          <a:xfrm xmlns:a="http://schemas.openxmlformats.org/drawingml/2006/main">
            <a:off x="8534400" y="3714750"/>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970"/>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Trace user and MCP activity</a:t>
            </a:r>
          </a:p>
        </p:txBody>
      </p:sp>
      <p:sp>
        <p:nvSpPr>
          <p:cNvPr id="24" name="">
            <a:extLst xmlns:a="http://schemas.openxmlformats.org/drawingml/2006/main">
              <a:ext uri="{FF2B5EF4-FFF2-40B4-BE49-F238E27FC236}">
                <a16:creationId xmlns:a16="http://schemas.microsoft.com/office/drawing/2014/main" id="{FEA9DFDE-8F6E-4C93-859B-18B115131BD2}"/>
              </a:ext>
            </a:extLst>
          </p:cNvPr>
          <p:cNvSpPr>
            <a:spLocks xmlns:a="http://schemas.openxmlformats.org/drawingml/2006/main" noGrp="1"/>
          </p:cNvSpPr>
          <p:nvPr/>
        </p:nvSpPr>
        <p:spPr>
          <a:xfrm xmlns:a="http://schemas.openxmlformats.org/drawingml/2006/main">
            <a:off x="2000250" y="5391150"/>
            <a:ext cx="819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970"/>
          </a:bodyPr>
          <a:lstStyle xmlns:a="http://schemas.openxmlformats.org/drawingml/2006/main"/>
          <a:p xmlns:a="http://schemas.openxmlformats.org/drawingml/2006/main">
            <a:pPr algn="ctr">
              <a:buNone/>
              <a:defRPr sz="1650" b="1">
                <a:solidFill>
                  <a:srgbClr val="FB7185"/>
                </a:solidFill>
                <a:latin typeface="Aptos"/>
                <a:ea typeface="Aptos"/>
                <a:cs typeface="Aptos"/>
              </a:defRPr>
            </a:pPr>
            <a:r>
              <a:rPr sz="1650" b="1">
                <a:solidFill>
                  <a:srgbClr val="FB7185"/>
                </a:solidFill>
                <a:latin typeface="Aptos"/>
                <a:ea typeface="Aptos"/>
                <a:cs typeface="Aptos"/>
              </a:rPr>
              <a:t>Safety boundary: broker and trading workflows stay read-only or preview-only in the prototype</a:t>
            </a:r>
          </a:p>
        </p:txBody>
      </p:sp>
      <p:sp>
        <p:nvSpPr>
          <p:cNvPr id="25" name="">
            <a:extLst xmlns:a="http://schemas.openxmlformats.org/drawingml/2006/main">
              <a:ext uri="{FF2B5EF4-FFF2-40B4-BE49-F238E27FC236}">
                <a16:creationId xmlns:a16="http://schemas.microsoft.com/office/drawing/2014/main" id="{C1F75556-7A06-47C1-9EC1-ED346D1AD0C9}"/>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07</a:t>
            </a:r>
          </a:p>
        </p:txBody>
      </p:sp>
    </p:spTree>
    <p:extLst>
      <p:ext uri="{BB962C8B-B14F-4D97-AF65-F5344CB8AC3E}">
        <p14:creationId xmlns:p14="http://schemas.microsoft.com/office/powerpoint/2010/main" val="1736916484"/>
      </p:ext>
    </p:extLst>
  </p:cSld>
</p:sld>
</file>

<file path=ppt/slides/slide8.xml><?xml version="1.0" encoding="utf-8"?>
<p:sld xmlns:p="http://schemas.openxmlformats.org/presentationml/2006/main">
  <p:cSld>
    <p:bg>
      <p:bgPr>
        <a:solidFill xmlns:a="http://schemas.openxmlformats.org/drawingml/2006/main">
          <a:srgbClr val="0710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407CCE6-CF4B-4899-BB48-8E07229039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BF5FFC-1CE4-4F20-893F-AC1AA451DE11}"/>
              </a:ext>
            </a:extLst>
          </p:cNvPr>
          <p:cNvSpPr>
            <a:spLocks xmlns:a="http://schemas.openxmlformats.org/drawingml/2006/main" noGrp="1"/>
          </p:cNvSpPr>
          <p:nvPr/>
        </p:nvSpPr>
        <p:spPr>
          <a:xfrm xmlns:a="http://schemas.openxmlformats.org/drawingml/2006/main">
            <a:off x="0" y="0"/>
            <a:ext cx="2476500" cy="2476500"/>
          </a:xfrm>
          <a:prstGeom xmlns:a="http://schemas.openxmlformats.org/drawingml/2006/main" prst="ellipse">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589DF4-0CA5-41B5-B957-6FF2EA3A0ADD}"/>
              </a:ext>
            </a:extLst>
          </p:cNvPr>
          <p:cNvSpPr>
            <a:spLocks xmlns:a="http://schemas.openxmlformats.org/drawingml/2006/main" noGrp="1"/>
          </p:cNvSpPr>
          <p:nvPr/>
        </p:nvSpPr>
        <p:spPr>
          <a:xfrm xmlns:a="http://schemas.openxmlformats.org/drawingml/2006/main">
            <a:off x="9715500" y="0"/>
            <a:ext cx="2476500" cy="2476500"/>
          </a:xfrm>
          <a:prstGeom xmlns:a="http://schemas.openxmlformats.org/drawingml/2006/main" prst="ellipse">
            <a:avLst/>
          </a:prstGeom>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F8D590-C594-4015-89AE-AAB7F921943D}"/>
              </a:ext>
            </a:extLst>
          </p:cNvPr>
          <p:cNvSpPr>
            <a:spLocks xmlns:a="http://schemas.openxmlformats.org/drawingml/2006/main" noGrp="1"/>
          </p:cNvSpPr>
          <p:nvPr/>
        </p:nvSpPr>
        <p:spPr>
          <a:xfrm xmlns:a="http://schemas.openxmlformats.org/drawingml/2006/main">
            <a:off x="552450" y="40005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2700" b="1">
                <a:solidFill>
                  <a:srgbClr val="EDF6FF"/>
                </a:solidFill>
                <a:latin typeface="Aptos"/>
                <a:ea typeface="Aptos"/>
                <a:cs typeface="Aptos"/>
              </a:defRPr>
            </a:pPr>
            <a:r>
              <a:rPr sz="2700" b="1">
                <a:solidFill>
                  <a:srgbClr val="EDF6FF"/>
                </a:solidFill>
                <a:latin typeface="Aptos"/>
                <a:ea typeface="Aptos"/>
                <a:cs typeface="Aptos"/>
              </a:rPr>
              <a:t>Reference material</a:t>
            </a:r>
          </a:p>
        </p:txBody>
      </p:sp>
      <p:sp>
        <p:nvSpPr>
          <p:cNvPr id="5" name="">
            <a:extLst xmlns:a="http://schemas.openxmlformats.org/drawingml/2006/main">
              <a:ext uri="{FF2B5EF4-FFF2-40B4-BE49-F238E27FC236}">
                <a16:creationId xmlns:a16="http://schemas.microsoft.com/office/drawing/2014/main" id="{F3CC247E-BFB6-4FF2-946B-CB5807BD00C8}"/>
              </a:ext>
            </a:extLst>
          </p:cNvPr>
          <p:cNvSpPr>
            <a:spLocks xmlns:a="http://schemas.openxmlformats.org/drawingml/2006/main" noGrp="1"/>
          </p:cNvSpPr>
          <p:nvPr/>
        </p:nvSpPr>
        <p:spPr>
          <a:xfrm xmlns:a="http://schemas.openxmlformats.org/drawingml/2006/main">
            <a:off x="571500" y="9334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buNone/>
              <a:defRPr sz="1275" b="0">
                <a:solidFill>
                  <a:srgbClr val="9AAABC"/>
                </a:solidFill>
                <a:latin typeface="Aptos"/>
                <a:ea typeface="Aptos"/>
                <a:cs typeface="Aptos"/>
              </a:defRPr>
            </a:pPr>
            <a:r>
              <a:rPr sz="1275" b="0">
                <a:solidFill>
                  <a:srgbClr val="9AAABC"/>
                </a:solidFill>
                <a:latin typeface="Aptos"/>
                <a:ea typeface="Aptos"/>
                <a:cs typeface="Aptos"/>
              </a:rPr>
              <a:t>Sources behind the MCP overview and application workflow</a:t>
            </a:r>
          </a:p>
        </p:txBody>
      </p:sp>
      <p:sp>
        <p:nvSpPr>
          <p:cNvPr id="6" name="">
            <a:extLst xmlns:a="http://schemas.openxmlformats.org/drawingml/2006/main">
              <a:ext uri="{FF2B5EF4-FFF2-40B4-BE49-F238E27FC236}">
                <a16:creationId xmlns:a16="http://schemas.microsoft.com/office/drawing/2014/main" id="{CC244F6A-F29B-433E-9C6B-F5FE10A73B02}"/>
              </a:ext>
            </a:extLst>
          </p:cNvPr>
          <p:cNvSpPr>
            <a:spLocks xmlns:a="http://schemas.openxmlformats.org/drawingml/2006/main" noGrp="1"/>
          </p:cNvSpPr>
          <p:nvPr/>
        </p:nvSpPr>
        <p:spPr>
          <a:xfrm xmlns:a="http://schemas.openxmlformats.org/drawingml/2006/main">
            <a:off x="1095375" y="1809750"/>
            <a:ext cx="4095750" cy="952500"/>
          </a:xfrm>
          <a:prstGeom xmlns:a="http://schemas.openxmlformats.org/drawingml/2006/main" prst="roundRect">
            <a:avLst>
              <a:gd name="adj" fmla="val 8000"/>
            </a:avLst>
          </a:prstGeom>
          <a:ln xmlns:a="http://schemas.openxmlformats.org/drawingml/2006/main" w="11430">
            <a:solidFill>
              <a:srgbClr val="38BDF8"/>
            </a:solidFill>
            <a:prstDash val="solid"/>
          </a:ln>
        </p:spPr>
      </p:sp>
      <p:sp>
        <p:nvSpPr>
          <p:cNvPr id="7" name="">
            <a:extLst xmlns:a="http://schemas.openxmlformats.org/drawingml/2006/main">
              <a:ext uri="{FF2B5EF4-FFF2-40B4-BE49-F238E27FC236}">
                <a16:creationId xmlns:a16="http://schemas.microsoft.com/office/drawing/2014/main" id="{869C5399-7242-42C1-A6B9-7790F3BED68C}"/>
              </a:ext>
            </a:extLst>
          </p:cNvPr>
          <p:cNvSpPr>
            <a:spLocks xmlns:a="http://schemas.openxmlformats.org/drawingml/2006/main" noGrp="1"/>
          </p:cNvSpPr>
          <p:nvPr/>
        </p:nvSpPr>
        <p:spPr>
          <a:xfrm xmlns:a="http://schemas.openxmlformats.org/drawingml/2006/main">
            <a:off x="1247775" y="1924050"/>
            <a:ext cx="3790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MCP architecture</a:t>
            </a:r>
          </a:p>
        </p:txBody>
      </p:sp>
      <p:sp>
        <p:nvSpPr>
          <p:cNvPr id="8" name="">
            <a:extLst xmlns:a="http://schemas.openxmlformats.org/drawingml/2006/main">
              <a:ext uri="{FF2B5EF4-FFF2-40B4-BE49-F238E27FC236}">
                <a16:creationId xmlns:a16="http://schemas.microsoft.com/office/drawing/2014/main" id="{4C7FCDF1-6FA3-41EF-BD83-5FC3C51FE34B}"/>
              </a:ext>
            </a:extLst>
          </p:cNvPr>
          <p:cNvSpPr>
            <a:spLocks xmlns:a="http://schemas.openxmlformats.org/drawingml/2006/main" noGrp="1"/>
          </p:cNvSpPr>
          <p:nvPr/>
        </p:nvSpPr>
        <p:spPr>
          <a:xfrm xmlns:a="http://schemas.openxmlformats.org/drawingml/2006/main">
            <a:off x="1266825" y="2209800"/>
            <a:ext cx="375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333"/>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Hosts, clients, servers and capability discovery</a:t>
            </a:r>
          </a:p>
        </p:txBody>
      </p:sp>
      <p:sp>
        <p:nvSpPr>
          <p:cNvPr id="9" name="">
            <a:extLst xmlns:a="http://schemas.openxmlformats.org/drawingml/2006/main">
              <a:ext uri="{FF2B5EF4-FFF2-40B4-BE49-F238E27FC236}">
                <a16:creationId xmlns:a16="http://schemas.microsoft.com/office/drawing/2014/main" id="{7FAD406A-C41D-4184-8283-F79ED2D54655}"/>
              </a:ext>
            </a:extLst>
          </p:cNvPr>
          <p:cNvSpPr>
            <a:spLocks xmlns:a="http://schemas.openxmlformats.org/drawingml/2006/main" noGrp="1"/>
          </p:cNvSpPr>
          <p:nvPr/>
        </p:nvSpPr>
        <p:spPr>
          <a:xfrm xmlns:a="http://schemas.openxmlformats.org/drawingml/2006/main">
            <a:off x="6238875" y="1809750"/>
            <a:ext cx="4095750" cy="952500"/>
          </a:xfrm>
          <a:prstGeom xmlns:a="http://schemas.openxmlformats.org/drawingml/2006/main" prst="roundRect">
            <a:avLst>
              <a:gd name="adj" fmla="val 8000"/>
            </a:avLst>
          </a:prstGeom>
          <a:ln xmlns:a="http://schemas.openxmlformats.org/drawingml/2006/main" w="11430">
            <a:solidFill>
              <a:srgbClr val="38BDF8"/>
            </a:solidFill>
            <a:prstDash val="solid"/>
          </a:ln>
        </p:spPr>
      </p:sp>
      <p:sp>
        <p:nvSpPr>
          <p:cNvPr id="10" name="">
            <a:extLst xmlns:a="http://schemas.openxmlformats.org/drawingml/2006/main">
              <a:ext uri="{FF2B5EF4-FFF2-40B4-BE49-F238E27FC236}">
                <a16:creationId xmlns:a16="http://schemas.microsoft.com/office/drawing/2014/main" id="{DDC7F65C-E6B8-49B9-A814-C80D08A22EAF}"/>
              </a:ext>
            </a:extLst>
          </p:cNvPr>
          <p:cNvSpPr>
            <a:spLocks xmlns:a="http://schemas.openxmlformats.org/drawingml/2006/main" noGrp="1"/>
          </p:cNvSpPr>
          <p:nvPr/>
        </p:nvSpPr>
        <p:spPr>
          <a:xfrm xmlns:a="http://schemas.openxmlformats.org/drawingml/2006/main">
            <a:off x="6391275" y="1924050"/>
            <a:ext cx="3790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MCP specification</a:t>
            </a:r>
          </a:p>
        </p:txBody>
      </p:sp>
      <p:sp>
        <p:nvSpPr>
          <p:cNvPr id="11" name="">
            <a:extLst xmlns:a="http://schemas.openxmlformats.org/drawingml/2006/main">
              <a:ext uri="{FF2B5EF4-FFF2-40B4-BE49-F238E27FC236}">
                <a16:creationId xmlns:a16="http://schemas.microsoft.com/office/drawing/2014/main" id="{6410D38A-7A8F-463E-83C9-7FE52058939B}"/>
              </a:ext>
            </a:extLst>
          </p:cNvPr>
          <p:cNvSpPr>
            <a:spLocks xmlns:a="http://schemas.openxmlformats.org/drawingml/2006/main" noGrp="1"/>
          </p:cNvSpPr>
          <p:nvPr/>
        </p:nvSpPr>
        <p:spPr>
          <a:xfrm xmlns:a="http://schemas.openxmlformats.org/drawingml/2006/main">
            <a:off x="6410325" y="2209800"/>
            <a:ext cx="375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333"/>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Tools, resources, prompts and transport concepts</a:t>
            </a:r>
          </a:p>
        </p:txBody>
      </p:sp>
      <p:sp>
        <p:nvSpPr>
          <p:cNvPr id="12" name="">
            <a:extLst xmlns:a="http://schemas.openxmlformats.org/drawingml/2006/main">
              <a:ext uri="{FF2B5EF4-FFF2-40B4-BE49-F238E27FC236}">
                <a16:creationId xmlns:a16="http://schemas.microsoft.com/office/drawing/2014/main" id="{F9645701-6EF9-49A0-B34D-04A8078B6FE5}"/>
              </a:ext>
            </a:extLst>
          </p:cNvPr>
          <p:cNvSpPr>
            <a:spLocks xmlns:a="http://schemas.openxmlformats.org/drawingml/2006/main" noGrp="1"/>
          </p:cNvSpPr>
          <p:nvPr/>
        </p:nvSpPr>
        <p:spPr>
          <a:xfrm xmlns:a="http://schemas.openxmlformats.org/drawingml/2006/main">
            <a:off x="1095375" y="3429000"/>
            <a:ext cx="4095750" cy="952500"/>
          </a:xfrm>
          <a:prstGeom xmlns:a="http://schemas.openxmlformats.org/drawingml/2006/main" prst="roundRect">
            <a:avLst>
              <a:gd name="adj" fmla="val 8000"/>
            </a:avLst>
          </a:prstGeom>
          <a:ln xmlns:a="http://schemas.openxmlformats.org/drawingml/2006/main" w="11430">
            <a:solidFill>
              <a:srgbClr val="38BDF8"/>
            </a:solidFill>
            <a:prstDash val="solid"/>
          </a:ln>
        </p:spPr>
      </p:sp>
      <p:sp>
        <p:nvSpPr>
          <p:cNvPr id="13" name="">
            <a:extLst xmlns:a="http://schemas.openxmlformats.org/drawingml/2006/main">
              <a:ext uri="{FF2B5EF4-FFF2-40B4-BE49-F238E27FC236}">
                <a16:creationId xmlns:a16="http://schemas.microsoft.com/office/drawing/2014/main" id="{B14EF408-640A-4990-AB6C-E9FE321B7376}"/>
              </a:ext>
            </a:extLst>
          </p:cNvPr>
          <p:cNvSpPr>
            <a:spLocks xmlns:a="http://schemas.openxmlformats.org/drawingml/2006/main" noGrp="1"/>
          </p:cNvSpPr>
          <p:nvPr/>
        </p:nvSpPr>
        <p:spPr>
          <a:xfrm xmlns:a="http://schemas.openxmlformats.org/drawingml/2006/main">
            <a:off x="1247775" y="3543300"/>
            <a:ext cx="3790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MCP roadmap</a:t>
            </a:r>
          </a:p>
        </p:txBody>
      </p:sp>
      <p:sp>
        <p:nvSpPr>
          <p:cNvPr id="14" name="">
            <a:extLst xmlns:a="http://schemas.openxmlformats.org/drawingml/2006/main">
              <a:ext uri="{FF2B5EF4-FFF2-40B4-BE49-F238E27FC236}">
                <a16:creationId xmlns:a16="http://schemas.microsoft.com/office/drawing/2014/main" id="{F6471EBF-D328-4D9B-A486-8BE0B65976B0}"/>
              </a:ext>
            </a:extLst>
          </p:cNvPr>
          <p:cNvSpPr>
            <a:spLocks xmlns:a="http://schemas.openxmlformats.org/drawingml/2006/main" noGrp="1"/>
          </p:cNvSpPr>
          <p:nvPr/>
        </p:nvSpPr>
        <p:spPr>
          <a:xfrm xmlns:a="http://schemas.openxmlformats.org/drawingml/2006/main">
            <a:off x="1266825" y="3829050"/>
            <a:ext cx="375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Ecosystem direction and future work</a:t>
            </a:r>
          </a:p>
        </p:txBody>
      </p:sp>
      <p:sp>
        <p:nvSpPr>
          <p:cNvPr id="15" name="">
            <a:extLst xmlns:a="http://schemas.openxmlformats.org/drawingml/2006/main">
              <a:ext uri="{FF2B5EF4-FFF2-40B4-BE49-F238E27FC236}">
                <a16:creationId xmlns:a16="http://schemas.microsoft.com/office/drawing/2014/main" id="{D90E82B9-7E6F-46A7-A020-1C6567A626EA}"/>
              </a:ext>
            </a:extLst>
          </p:cNvPr>
          <p:cNvSpPr>
            <a:spLocks xmlns:a="http://schemas.openxmlformats.org/drawingml/2006/main" noGrp="1"/>
          </p:cNvSpPr>
          <p:nvPr/>
        </p:nvSpPr>
        <p:spPr>
          <a:xfrm xmlns:a="http://schemas.openxmlformats.org/drawingml/2006/main">
            <a:off x="6238875" y="3429000"/>
            <a:ext cx="4095750" cy="952500"/>
          </a:xfrm>
          <a:prstGeom xmlns:a="http://schemas.openxmlformats.org/drawingml/2006/main" prst="roundRect">
            <a:avLst>
              <a:gd name="adj" fmla="val 8000"/>
            </a:avLst>
          </a:prstGeom>
          <a:ln xmlns:a="http://schemas.openxmlformats.org/drawingml/2006/main" w="11430">
            <a:solidFill>
              <a:srgbClr val="2DD4BF"/>
            </a:solidFill>
            <a:prstDash val="solid"/>
          </a:ln>
        </p:spPr>
      </p:sp>
      <p:sp>
        <p:nvSpPr>
          <p:cNvPr id="16" name="">
            <a:extLst xmlns:a="http://schemas.openxmlformats.org/drawingml/2006/main">
              <a:ext uri="{FF2B5EF4-FFF2-40B4-BE49-F238E27FC236}">
                <a16:creationId xmlns:a16="http://schemas.microsoft.com/office/drawing/2014/main" id="{911B14C3-A3E0-4938-8C54-16FD51D4F10D}"/>
              </a:ext>
            </a:extLst>
          </p:cNvPr>
          <p:cNvSpPr>
            <a:spLocks xmlns:a="http://schemas.openxmlformats.org/drawingml/2006/main" noGrp="1"/>
          </p:cNvSpPr>
          <p:nvPr/>
        </p:nvSpPr>
        <p:spPr>
          <a:xfrm xmlns:a="http://schemas.openxmlformats.org/drawingml/2006/main">
            <a:off x="6391275" y="3543300"/>
            <a:ext cx="3790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buNone/>
              <a:defRPr sz="825" b="1">
                <a:solidFill>
                  <a:srgbClr val="2DD4BF"/>
                </a:solidFill>
                <a:latin typeface="Aptos"/>
                <a:ea typeface="Aptos"/>
                <a:cs typeface="Aptos"/>
              </a:defRPr>
            </a:pPr>
            <a:r>
              <a:rPr sz="825" b="1">
                <a:solidFill>
                  <a:srgbClr val="2DD4BF"/>
                </a:solidFill>
                <a:latin typeface="Aptos"/>
                <a:ea typeface="Aptos"/>
                <a:cs typeface="Aptos"/>
              </a:rPr>
              <a:t>Project + data sources</a:t>
            </a:r>
          </a:p>
        </p:txBody>
      </p:sp>
      <p:sp>
        <p:nvSpPr>
          <p:cNvPr id="17" name="">
            <a:extLst xmlns:a="http://schemas.openxmlformats.org/drawingml/2006/main">
              <a:ext uri="{FF2B5EF4-FFF2-40B4-BE49-F238E27FC236}">
                <a16:creationId xmlns:a16="http://schemas.microsoft.com/office/drawing/2014/main" id="{669525ED-5288-4FF1-B8B1-43CC70701CC8}"/>
              </a:ext>
            </a:extLst>
          </p:cNvPr>
          <p:cNvSpPr>
            <a:spLocks xmlns:a="http://schemas.openxmlformats.org/drawingml/2006/main" noGrp="1"/>
          </p:cNvSpPr>
          <p:nvPr/>
        </p:nvSpPr>
        <p:spPr>
          <a:xfrm xmlns:a="http://schemas.openxmlformats.org/drawingml/2006/main">
            <a:off x="6410325" y="3829050"/>
            <a:ext cx="3752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333"/>
          </a:bodyPr>
          <a:lstStyle xmlns:a="http://schemas.openxmlformats.org/drawingml/2006/main"/>
          <a:p xmlns:a="http://schemas.openxmlformats.org/drawingml/2006/main">
            <a:pPr algn="ctr">
              <a:buNone/>
              <a:defRPr sz="1500" b="1">
                <a:solidFill>
                  <a:srgbClr val="EDF6FF"/>
                </a:solidFill>
                <a:latin typeface="Aptos"/>
                <a:ea typeface="Aptos"/>
                <a:cs typeface="Aptos"/>
              </a:defRPr>
            </a:pPr>
            <a:r>
              <a:rPr sz="1500" b="1">
                <a:solidFill>
                  <a:srgbClr val="EDF6FF"/>
                </a:solidFill>
                <a:latin typeface="Aptos"/>
                <a:ea typeface="Aptos"/>
                <a:cs typeface="Aptos"/>
              </a:rPr>
              <a:t>Project workflows and Yahoo data references</a:t>
            </a:r>
          </a:p>
        </p:txBody>
      </p:sp>
      <p:sp>
        <p:nvSpPr>
          <p:cNvPr id="18" name="">
            <a:extLst xmlns:a="http://schemas.openxmlformats.org/drawingml/2006/main">
              <a:ext uri="{FF2B5EF4-FFF2-40B4-BE49-F238E27FC236}">
                <a16:creationId xmlns:a16="http://schemas.microsoft.com/office/drawing/2014/main" id="{AFFB5DDF-260C-4317-97F0-DADDF5836865}"/>
              </a:ext>
            </a:extLst>
          </p:cNvPr>
          <p:cNvSpPr>
            <a:spLocks xmlns:a="http://schemas.openxmlformats.org/drawingml/2006/main" noGrp="1"/>
          </p:cNvSpPr>
          <p:nvPr/>
        </p:nvSpPr>
        <p:spPr>
          <a:xfrm xmlns:a="http://schemas.openxmlformats.org/drawingml/2006/main">
            <a:off x="1333500" y="5429250"/>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879"/>
          </a:bodyPr>
          <a:lstStyle xmlns:a="http://schemas.openxmlformats.org/drawingml/2006/main"/>
          <a:p xmlns:a="http://schemas.openxmlformats.org/drawingml/2006/main">
            <a:pPr algn="ctr">
              <a:buNone/>
              <a:defRPr sz="1650" b="1">
                <a:solidFill>
                  <a:srgbClr val="EDF6FF"/>
                </a:solidFill>
                <a:latin typeface="Aptos"/>
                <a:ea typeface="Aptos"/>
                <a:cs typeface="Aptos"/>
              </a:defRPr>
            </a:pPr>
            <a:r>
              <a:rPr sz="1650" b="1">
                <a:solidFill>
                  <a:srgbClr val="EDF6FF"/>
                </a:solidFill>
                <a:latin typeface="Aptos"/>
                <a:ea typeface="Aptos"/>
                <a:cs typeface="Aptos"/>
              </a:rPr>
              <a:t>Suggested talk track: define MCP first, then show how the app turns portfolio, market data and news into MCP capabilities</a:t>
            </a:r>
          </a:p>
        </p:txBody>
      </p:sp>
      <p:sp>
        <p:nvSpPr>
          <p:cNvPr id="19" name="">
            <a:extLst xmlns:a="http://schemas.openxmlformats.org/drawingml/2006/main">
              <a:ext uri="{FF2B5EF4-FFF2-40B4-BE49-F238E27FC236}">
                <a16:creationId xmlns:a16="http://schemas.microsoft.com/office/drawing/2014/main" id="{A06E0969-852A-4C3B-8B2E-6813119FAA11}"/>
              </a:ext>
            </a:extLst>
          </p:cNvPr>
          <p:cNvSpPr>
            <a:spLocks xmlns:a="http://schemas.openxmlformats.org/drawingml/2006/main" noGrp="1"/>
          </p:cNvSpPr>
          <p:nvPr/>
        </p:nvSpPr>
        <p:spPr>
          <a:xfrm xmlns:a="http://schemas.openxmlformats.org/drawingml/2006/main">
            <a:off x="552450" y="64008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lgn="l">
              <a:buNone/>
              <a:defRPr sz="825" b="0">
                <a:solidFill>
                  <a:srgbClr val="9AAABC"/>
                </a:solidFill>
                <a:latin typeface="Aptos"/>
                <a:ea typeface="Aptos"/>
                <a:cs typeface="Aptos"/>
              </a:defRPr>
            </a:pPr>
            <a:r>
              <a:rPr sz="825" b="0">
                <a:solidFill>
                  <a:srgbClr val="9AAABC"/>
                </a:solidFill>
                <a:latin typeface="Aptos"/>
                <a:ea typeface="Aptos"/>
                <a:cs typeface="Aptos"/>
              </a:rPr>
              <a:t>Trading Journal MCP  08</a:t>
            </a:r>
          </a:p>
        </p:txBody>
      </p:sp>
    </p:spTree>
    <p:extLst>
      <p:ext uri="{BB962C8B-B14F-4D97-AF65-F5344CB8AC3E}">
        <p14:creationId xmlns:p14="http://schemas.microsoft.com/office/powerpoint/2010/main" val="1087802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2026-10-20T06:10:40.4790000Z</dcterms:created>
  <dcterms:modified xsi:type="dcterms:W3CDTF">2026-10-20T06:10:40.4790000Z</dcterms:modified>
</coreProperties>
</file>