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45610e72854a10" /><Relationship Type="http://schemas.openxmlformats.org/officeDocument/2006/relationships/extended-properties" Target="/docProps/app.xml" Id="Rafab020bc5af4aac" /><Relationship Type="http://schemas.openxmlformats.org/officeDocument/2006/relationships/officeDocument" Target="/ppt/presentation.xml" Id="R68d99566bbe34b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d7bb9b4db14e09"/>
  </p:sldMasterIdLst>
  <p:notesMasterIdLst>
    <p:notesMasterId xmlns:r="http://schemas.openxmlformats.org/officeDocument/2006/relationships" r:id="R8532cd2d33334bd7"/>
  </p:notesMasterIdLst>
  <p:sldIdLst>
    <p:sldId xmlns:r="http://schemas.openxmlformats.org/officeDocument/2006/relationships" id="256" r:id="Ra3cc42c9e55241b2"/>
    <p:sldId xmlns:r="http://schemas.openxmlformats.org/officeDocument/2006/relationships" id="257" r:id="R4db68d629aa8426e"/>
    <p:sldId xmlns:r="http://schemas.openxmlformats.org/officeDocument/2006/relationships" id="258" r:id="R0449001a87a244bd"/>
    <p:sldId xmlns:r="http://schemas.openxmlformats.org/officeDocument/2006/relationships" id="259" r:id="Reb68ba1d75c7481e"/>
    <p:sldId xmlns:r="http://schemas.openxmlformats.org/officeDocument/2006/relationships" id="260" r:id="Rcb55a35da0d54cdc"/>
    <p:sldId xmlns:r="http://schemas.openxmlformats.org/officeDocument/2006/relationships" id="261" r:id="Re72b175afe3e4964"/>
    <p:sldId xmlns:r="http://schemas.openxmlformats.org/officeDocument/2006/relationships" id="262" r:id="R54b2427aad7547c9"/>
    <p:sldId xmlns:r="http://schemas.openxmlformats.org/officeDocument/2006/relationships" id="263" r:id="R671a987f527e4c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c68ed6d602457a" /><Relationship Type="http://schemas.openxmlformats.org/officeDocument/2006/relationships/slideMaster" Target="/ppt/slideMasters/slideMaster1.xml" Id="Re9d7bb9b4db14e09" /><Relationship Type="http://schemas.openxmlformats.org/officeDocument/2006/relationships/notesMaster" Target="/ppt/notesMasters/notesMaster1.xml" Id="R8532cd2d33334bd7" /><Relationship Type="http://schemas.openxmlformats.org/officeDocument/2006/relationships/presProps" Target="/ppt/presProps.xml" Id="R6aa28cb44f2f4be0" /><Relationship Type="http://schemas.openxmlformats.org/officeDocument/2006/relationships/tableStyles" Target="/ppt/tableStyles.xml" Id="R5ec2601607284496" /><Relationship Type="http://schemas.openxmlformats.org/officeDocument/2006/relationships/slide" Target="/ppt/slides/slide1.xml" Id="Ra3cc42c9e55241b2" /><Relationship Type="http://schemas.openxmlformats.org/officeDocument/2006/relationships/slide" Target="/ppt/slides/slide2.xml" Id="R4db68d629aa8426e" /><Relationship Type="http://schemas.openxmlformats.org/officeDocument/2006/relationships/slide" Target="/ppt/slides/slide3.xml" Id="R0449001a87a244bd" /><Relationship Type="http://schemas.openxmlformats.org/officeDocument/2006/relationships/slide" Target="/ppt/slides/slide4.xml" Id="Reb68ba1d75c7481e" /><Relationship Type="http://schemas.openxmlformats.org/officeDocument/2006/relationships/slide" Target="/ppt/slides/slide5.xml" Id="Rcb55a35da0d54cdc" /><Relationship Type="http://schemas.openxmlformats.org/officeDocument/2006/relationships/slide" Target="/ppt/slides/slide6.xml" Id="Re72b175afe3e4964" /><Relationship Type="http://schemas.openxmlformats.org/officeDocument/2006/relationships/slide" Target="/ppt/slides/slide7.xml" Id="R54b2427aad7547c9" /><Relationship Type="http://schemas.openxmlformats.org/officeDocument/2006/relationships/slide" Target="/ppt/slides/slide8.xml" Id="R671a987f527e4c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98f597e3e241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fafd2c39564ca3" /><Relationship Type="http://schemas.openxmlformats.org/officeDocument/2006/relationships/notesMaster" Target="/ppt/notesMasters/notesMaster1.xml" Id="R4a37335d54474c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071bff237e4b84" /><Relationship Type="http://schemas.openxmlformats.org/officeDocument/2006/relationships/notesMaster" Target="/ppt/notesMasters/notesMaster1.xml" Id="Rb785d34dc38d44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204927c7bc4fbe" /><Relationship Type="http://schemas.openxmlformats.org/officeDocument/2006/relationships/notesMaster" Target="/ppt/notesMasters/notesMaster1.xml" Id="R490875aa827a4a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ac54ea464b46ef" /><Relationship Type="http://schemas.openxmlformats.org/officeDocument/2006/relationships/notesMaster" Target="/ppt/notesMasters/notesMaster1.xml" Id="Re230ab0c612048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9e831353be4d63" /><Relationship Type="http://schemas.openxmlformats.org/officeDocument/2006/relationships/notesMaster" Target="/ppt/notesMasters/notesMaster1.xml" Id="Rda7faf16f90a48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de0e7c1ba54858" /><Relationship Type="http://schemas.openxmlformats.org/officeDocument/2006/relationships/notesMaster" Target="/ppt/notesMasters/notesMaster1.xml" Id="Rf8c37605ff9c4c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e58b2b6839435c" /><Relationship Type="http://schemas.openxmlformats.org/officeDocument/2006/relationships/notesMaster" Target="/ppt/notesMasters/notesMaster1.xml" Id="Rbc2e50d04ddb4c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0fbd2cc3924faa" /><Relationship Type="http://schemas.openxmlformats.org/officeDocument/2006/relationships/notesMaster" Target="/ppt/notesMasters/notesMaster1.xml" Id="R4d39aca287aa41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Model Context Protocol architecture documentation, https://modelcontextprotocol.io/docs/concepts/architecture. Trading Journal project documentation in docs/architecture_plan.md.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MCP architecture and concepts documentation: https://modelcontextprotocol.io/docs/concepts/architecture and specification sections for tools, resources and prompts at https://modelcontextprotocol.io/specification.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MCP architecture documentation on client-server interaction and capability discovery, https://modelcontextprotocol.io/docs/concepts/architecture.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MCP architecture documentation: https://modelcontextprotocol.io/docs/concepts/architecture. MCP 2026 roadmap for ecosystem direction: https://blog.modelcontextprotocol.io/posts/2026-mcp-roadmap/.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Trading Journal architecture documentation docs/architecture_plan.md and implementation plan docs/implementation_plan.md. External integrations are described in the project as Alpaca market data and Yahoo Finance demo news.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app/templates/workflow.html, scripts/mcp_demo_client.py, app/services/mcp_host.py, and app/services/market_data.py in the Trading Journal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docs/architecture_plan.md section Active MCP Endpoints and Current Safety Boundary. The project explicitly keeps live trading disabled and Broker MCP as a placeholder.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MCP architecture documentation https://modelcontextprotocol.io/docs/concepts/architecture. MCP specification https://modelcontextprotocol.io/specification. MCP roadmap https://blog.modelcontextprotocol.io/posts/2026-mcp-roadmap/. Trading Journal local files docs/architecture_plan.md, docs/implementation_plan.md and app/templates/workflow.html.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afa7bf4dc4c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da79d8048d4868" /><Relationship Type="http://schemas.openxmlformats.org/officeDocument/2006/relationships/slideLayout" Target="/ppt/slideLayouts/slideLayout1.xml" Id="R1f54064a534a4a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54064a534a4a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283ac053847fb" /><Relationship Type="http://schemas.openxmlformats.org/officeDocument/2006/relationships/notesSlide" Target="/ppt/notesSlides/notesSlide1.xml" Id="R09ef796b04f141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87317319241a4" /><Relationship Type="http://schemas.openxmlformats.org/officeDocument/2006/relationships/notesSlide" Target="/ppt/notesSlides/notesSlide2.xml" Id="Rb287802c890640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916bb44f84600" /><Relationship Type="http://schemas.openxmlformats.org/officeDocument/2006/relationships/notesSlide" Target="/ppt/notesSlides/notesSlide3.xml" Id="R786afa193a6c41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fd60158664701" /><Relationship Type="http://schemas.openxmlformats.org/officeDocument/2006/relationships/notesSlide" Target="/ppt/notesSlides/notesSlide4.xml" Id="R59be981fe29646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e0f88211945c0" /><Relationship Type="http://schemas.openxmlformats.org/officeDocument/2006/relationships/notesSlide" Target="/ppt/notesSlides/notesSlide5.xml" Id="Rc4f9346b577742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c8cc9bf75440c" /><Relationship Type="http://schemas.openxmlformats.org/officeDocument/2006/relationships/notesSlide" Target="/ppt/notesSlides/notesSlide6.xml" Id="R3559055a39dd4e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f2a51ace44f03" /><Relationship Type="http://schemas.openxmlformats.org/officeDocument/2006/relationships/notesSlide" Target="/ppt/notesSlides/notesSlide7.xml" Id="Rdd783a147a3c4f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7b688e80041ea" /><Relationship Type="http://schemas.openxmlformats.org/officeDocument/2006/relationships/notesSlide" Target="/ppt/notesSlides/notesSlide8.xml" Id="R5b9df14a760548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B62C6-90CA-4006-AB2F-D8D0F96D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7A7BA-92E1-412E-93DF-F2EDAFCF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2476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516C3-A275-42B1-9B0E-BBD00B5B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476500" cy="2476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D19FD-171E-4B37-A327-F2FEEA11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Model Context Protocol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F55D-9BA1-46AA-9236-6E9FBC18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General concept and Trading Journal use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9C4D3-7C31-469A-88FB-9FE07B68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27512-4869-4739-AE9B-6E394C77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53751-C61B-42C2-8256-E41E87A0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0520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AI app or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1B12D-2D07-42CD-92D5-61628183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95600"/>
            <a:ext cx="2190750" cy="1485900"/>
          </a:xfrm>
          <a:prstGeom xmlns:a="http://schemas.openxmlformats.org/drawingml/2006/main" prst="roundRect">
            <a:avLst>
              <a:gd name="adj" fmla="val 5128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5D607-B1DA-419D-8A16-092D1586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099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039D8-CBEB-4E16-B931-1C093267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295650"/>
            <a:ext cx="18478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62E6A-E039-4C3D-A4FA-A1D297CC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8492C-2E6E-4199-B8D2-69783566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194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5178E-8B8A-4645-9F74-945AEC49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0520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Tools and context</a:t>
            </a:r>
          </a:p>
        </p:txBody>
      </p: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38500" y="36385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191375" y="36385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E397C-CEE0-4307-A64E-D90172A9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196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DF6FF"/>
                </a:solidFill>
                <a:latin typeface="Aptos"/>
                <a:ea typeface="Aptos"/>
                <a:cs typeface="Aptos"/>
              </a:rPr>
              <a:t>A common way for clients to discover and use external capabilities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5D0DD-6C10-44D3-B48E-E36BD136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Trading Journal MCP  01</a:t>
            </a:r>
          </a:p>
        </p:txBody>
      </p:sp>
    </p:spTree>
    <p:extLst>
      <p:ext uri="{BB962C8B-B14F-4D97-AF65-F5344CB8AC3E}">
        <p14:creationId xmlns:p14="http://schemas.microsoft.com/office/powerpoint/2010/main" val="665139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467407-53CE-403A-8EED-60F8876C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44588-D65A-40B6-93A5-3D7E6779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2476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67EE4-9946-40D5-B419-5164D112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476500" cy="2476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B409F-F2EE-4B25-802D-25665291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MCP building blocks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3A7D2-A152-4409-9AFF-CEF7DA40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The protocol separates user experience from available capabilities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BD6B8-F7B3-4996-92B2-2DCB7D40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90FE8-56C1-4216-8EB3-A413FFD9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HOST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1A38E-BABA-42E9-871B-46152891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ChatGPT, IDE, or custom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50399-B887-409D-9D7F-195FC1BC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2887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5DBEA-561A-477B-82CD-6301DDAE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431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3F710-BE5A-40D9-800E-1AC67077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289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One connection per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3967B-C3C9-4E9C-B731-FE175471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2887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11430">
            <a:solidFill>
              <a:srgbClr val="4ADE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7D373-4876-4C96-BD02-C09B5FEA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431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60026-A961-45C4-A222-0602E2F6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289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Exposes tools and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C64FC-9588-49AA-B562-308A43D6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28875"/>
            <a:ext cx="161925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11430">
            <a:solidFill>
              <a:srgbClr val="2A3D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450BE-A5FE-4D6B-8FF1-0BE62520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4317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EFBA6-CA2E-44DC-9986-A07680B2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28925"/>
            <a:ext cx="127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APIs, files, databases</a:t>
            </a:r>
          </a:p>
        </p:txBody>
      </p: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48000" y="30003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134100" y="30003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220200" y="3000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CDA85D-48CD-48EF-A0A0-BEBAFCEB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196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0B942D-6002-4E36-978D-885CC2B6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33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C45D0A-4227-4CF3-86E3-B734A1EA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9BDD7-29D1-49EA-8CF6-60C78C9F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1960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5D867-A8AF-4130-AF57-0EC2E20E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5339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RESOURCES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F413E9-B9A5-458E-A6D0-92D38D37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196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Readable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DA48C3-985D-4AAD-9E14-553DD3A4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79E127-57FD-420C-81F8-CAC9B7A4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339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PROMPTS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B743EF-895F-4FAC-B31A-227BECE0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196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Reusable workflows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204348-711C-407F-AD47-7046987B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Trading Journal MCP  02</a:t>
            </a:r>
          </a:p>
        </p:txBody>
      </p:sp>
    </p:spTree>
    <p:extLst>
      <p:ext uri="{BB962C8B-B14F-4D97-AF65-F5344CB8AC3E}">
        <p14:creationId xmlns:p14="http://schemas.microsoft.com/office/powerpoint/2010/main" val="1650353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2BCA51-7B2D-41F8-AB40-C9B49E0E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3E8BB-1A8F-4445-8C8F-7B833D5E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2476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8EB4C-84C3-46A6-839D-89403E41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476500" cy="2476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D3AED-F1EF-46EB-A8FE-292E0415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Client to server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9BF65-5C94-459C-9EB3-769DD708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Discovery happens before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591E6-F21F-4F6C-B76C-017C6F57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D8293-EF7B-4017-AD18-B603976B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384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C8992-0C94-4CA4-B95A-E1DB76CD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241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2C29F-3966-410E-B359-05D89E19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24125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F62BA-6DFB-49B8-A55A-F67F3E7A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3842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A8378-FC83-4376-AD22-36C0BD1F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24175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0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Discover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AF657-38F0-4250-BC83-A7CE9CF7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24125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4ADE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FF132-C001-4C4B-ABE8-4DE5A8FC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3842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173C4-5732-4CD2-9D97-0F67C310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924175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Call a tool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5892E-E838-4691-9C8E-604FC93F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A6C60-127A-459B-AB06-E8BB5064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3842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56E5A-6403-48E2-8D49-CA280E53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24175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74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Return result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19375" y="29813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95875" y="29813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43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72375" y="29813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FAA3D1-1E02-41F9-88DA-C035E476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862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The client does not need to know how the server gets the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5DB08F-138D-48B7-B7E3-5917C8DD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It only needs the server contract: available tools, expected inputs, and structured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800D9-D512-4983-A1A8-3A8A8824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Trading Journal MCP  03</a:t>
            </a:r>
          </a:p>
        </p:txBody>
      </p:sp>
    </p:spTree>
    <p:extLst>
      <p:ext uri="{BB962C8B-B14F-4D97-AF65-F5344CB8AC3E}">
        <p14:creationId xmlns:p14="http://schemas.microsoft.com/office/powerpoint/2010/main" val="450199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C56F39-6764-4641-9A6C-3987B4A8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76EBF-7D35-4EC9-8E17-344488F6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2476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6D3D0-232F-46A3-BEA7-D8E5C78C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476500" cy="2476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8857F-03A3-43E3-A1CC-0238C957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Why MCP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D8F9C-D2A1-41DF-9335-3A5906BD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One capability layer can support many clients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04906-C113-4F92-A1D0-FF966D73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3048000" cy="1352550"/>
          </a:xfrm>
          <a:prstGeom xmlns:a="http://schemas.openxmlformats.org/drawingml/2006/main" prst="roundRect">
            <a:avLst>
              <a:gd name="adj" fmla="val 5634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E2880-EEA6-4C37-8D4F-14152CD0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A21A2-7E79-48E0-932D-EE93CADD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71800"/>
            <a:ext cx="2705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Stable capability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C0139-4456-4618-964E-152C3E17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62100"/>
            <a:ext cx="1905000" cy="781050"/>
          </a:xfrm>
          <a:prstGeom xmlns:a="http://schemas.openxmlformats.org/drawingml/2006/main" prst="roundRect">
            <a:avLst>
              <a:gd name="adj" fmla="val 9756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A690A-6E64-4734-A8C4-CB7FC5C3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764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A7929-54D7-42DF-BFC8-A37782D0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621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Web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9ED7C-D643-4033-BEC0-5B4EAB7A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1905000" cy="781050"/>
          </a:xfrm>
          <a:prstGeom xmlns:a="http://schemas.openxmlformats.org/drawingml/2006/main" prst="roundRect">
            <a:avLst>
              <a:gd name="adj" fmla="val 9756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DE6E0-8E69-4B98-9155-E8C34BA2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4005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C7A0D-162D-47D4-BEFD-D68FC884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863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CLI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88B05-0EB7-4D3D-9806-15F1FB9E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62100"/>
            <a:ext cx="1905000" cy="781050"/>
          </a:xfrm>
          <a:prstGeom xmlns:a="http://schemas.openxmlformats.org/drawingml/2006/main" prst="roundRect">
            <a:avLst>
              <a:gd name="adj" fmla="val 9756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0BE18-C60E-4064-8EF8-56A835C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764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BA4F5A-4E27-4E99-9C4B-96C79EF6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621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0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Future AI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51F8B-CDF2-47B5-B812-FFD4B17E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86250"/>
            <a:ext cx="1905000" cy="781050"/>
          </a:xfrm>
          <a:prstGeom xmlns:a="http://schemas.openxmlformats.org/drawingml/2006/main" prst="roundRect">
            <a:avLst>
              <a:gd name="adj" fmla="val 9756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6BF49-BD4E-4556-AB4B-E9674101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005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849FC-8C7B-4503-A620-15265336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863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Other apps</a:t>
            </a:r>
          </a:p>
        </p:txBody>
      </p: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09875" y="1952625"/>
            <a:ext cx="176212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2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09875" y="3248025"/>
            <a:ext cx="1762125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620000" y="1952625"/>
            <a:ext cx="180975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620000" y="3248025"/>
            <a:ext cx="180975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8C3C2F-3BF9-4666-89EB-55718AFE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435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23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MCP keeps client experience flexible while the server owns access, policy, and integration details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693A11-FF30-42C0-B22C-B662A4D9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Trading Journal MCP  04</a:t>
            </a:r>
          </a:p>
        </p:txBody>
      </p:sp>
    </p:spTree>
    <p:extLst>
      <p:ext uri="{BB962C8B-B14F-4D97-AF65-F5344CB8AC3E}">
        <p14:creationId xmlns:p14="http://schemas.microsoft.com/office/powerpoint/2010/main" val="1506618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84D2DB-1A32-4022-92F0-F280FA30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1A3D6-8B29-4F78-960E-9FFE2275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2476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9E45D-7B28-40C9-8A58-A894C93B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476500" cy="2476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F672E-49AC-4826-9EB3-6A471972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Trading Journal MCP topology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F9C98-6C66-4F57-AA63-7A83A5B6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The app exposes finance workflows through domain MCP servers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C0085-4593-429E-863E-F2B4E9AD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000250" cy="1619250"/>
          </a:xfrm>
          <a:prstGeom xmlns:a="http://schemas.openxmlformats.org/drawingml/2006/main" prst="roundRect">
            <a:avLst>
              <a:gd name="adj" fmla="val 4706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610AC-EB38-4531-9DEB-D7891CE0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BB7CF-1317-4165-AB6D-F8650780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657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Web UI</a:t>
            </a:r>
          </a:p>
          <a:p xmlns:a="http://schemas.openxmlformats.org/drawingml/2006/main">
            <a:pPr algn="ctr">
              <a:defRPr sz="1725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MCP Console</a:t>
            </a:r>
          </a:p>
          <a:p xmlns:a="http://schemas.openxmlformats.org/drawingml/2006/main">
            <a:pPr algn="ctr">
              <a:defRPr sz="1725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CLI 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528B7-71A2-4F50-8A8E-BDC1D921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2190750" cy="1504950"/>
          </a:xfrm>
          <a:prstGeom xmlns:a="http://schemas.openxmlformats.org/drawingml/2006/main" prst="roundRect">
            <a:avLst>
              <a:gd name="adj" fmla="val 506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AC535-63F5-45A3-8DB6-DDB578FD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APP HOST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9E94E-4ADE-4BE1-B076-665ED1CE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57500"/>
            <a:ext cx="1847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FastAPI app</a:t>
            </a:r>
          </a:p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Internal MCP 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0E445-01D6-4F43-A465-9DDF9420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2190750" cy="2514600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5DDB5-7930-406F-9828-BF5A46E1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66925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MCP SERVERS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81F9A-D285-4CEC-B08F-122BAEB8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52675"/>
            <a:ext cx="18478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Portfolio</a:t>
            </a:r>
          </a:p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Market Data</a:t>
            </a:r>
          </a:p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News</a:t>
            </a:r>
          </a:p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Broker</a:t>
            </a:r>
          </a:p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Trading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7AC2D-AD95-423F-A58F-BDB8CF51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11430">
            <a:solidFill>
              <a:srgbClr val="4ADE8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05023-A250-4917-B06E-137C5D07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6383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51C62-48A8-4B58-ADD8-1F8E0835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24050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32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Portfolio, market data,</a:t>
            </a:r>
          </a:p>
          <a:p xmlns:a="http://schemas.openxmlformats.org/drawingml/2006/main">
            <a:pPr algn="ctr">
              <a:defRPr sz="1425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news, broker, orders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14EB7E-8963-44E8-A048-CD05FF6C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3370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11430">
            <a:solidFill>
              <a:srgbClr val="2A3D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F2705-573A-4CB1-BD4A-5FB2F128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782B7-465B-4294-96F3-6150B388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33750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SQLite database</a:t>
            </a:r>
          </a:p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Audit logs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BEF2C-752E-4814-A032-2203FCD2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4340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11430">
            <a:solidFill>
              <a:srgbClr val="2A3D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C68F92-A7B6-4280-BB65-FC4D6175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577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PROVIDERS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92976-569D-49F6-9AC6-15632604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43450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60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Alpaca market data</a:t>
            </a:r>
          </a:p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Yahoo news</a:t>
            </a:r>
          </a:p>
        </p:txBody>
      </p:sp>
      <p:cxnSp>
        <p:nvCxnSpPr>
          <p:cNvPr id="53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67000" y="32099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54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524500" y="32099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8429625" y="2019300"/>
            <a:ext cx="80962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429625" y="3209925"/>
            <a:ext cx="809625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57" name=""/>
          <p:cNvCxnSpPr>
            <a:stCxn xmlns:a="http://schemas.openxmlformats.org/drawingml/2006/main" id="12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429625" y="3209925"/>
            <a:ext cx="809625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3ADEAB-DBF6-497E-8963-797CF31E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Trading Journal MCP  05</a:t>
            </a:r>
          </a:p>
        </p:txBody>
      </p:sp>
    </p:spTree>
    <p:extLst>
      <p:ext uri="{BB962C8B-B14F-4D97-AF65-F5344CB8AC3E}">
        <p14:creationId xmlns:p14="http://schemas.microsoft.com/office/powerpoint/2010/main" val="14553032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11B721-F01F-413A-A601-A7CE9476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366D2-A0EC-4361-9F3D-8DB5F688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2476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EF075-DDAB-4346-A6D3-4022494A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476500" cy="2476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213BC-3338-476C-B9F0-6C0C3C98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Two client 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5EBC7-526E-4DCF-889E-0A52FA1E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The same MCP servers support the browser and the terminal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BE787-4583-4771-AB32-55628DF7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588EE-CA10-4CD8-BD8E-D1F94561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050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00B49-3E47-4A20-A24F-F70FB684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19075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17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User clicks Market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DC8AA-1A85-4325-ACBC-0064EF4F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9070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698AE-EA6D-43EC-8B67-FADAA6EE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050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INTERNAL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844AB-DEF0-4C6E-AC5C-9003A34B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9075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08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FastAPI MCP 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14B35-D9FB-4FC5-8A04-CAC06C33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3385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5D723-EEF5-4202-A85B-8440918E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48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485EB-5C37-4869-82BD-5D9274BF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5339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17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mcp_demo_client.py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7AF68-3825-4844-A65F-1E6ADEA8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3385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1996F-A692-4D23-A226-B1440D61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48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EXTERNAL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D99EE-9577-4062-8387-6DE8149A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339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67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Streamable HTTP 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8A7738-394F-4FC9-8547-584E9BA9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5275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ln xmlns:a="http://schemas.openxmlformats.org/drawingml/2006/main" w="11430">
            <a:solidFill>
              <a:srgbClr val="4ADE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8F941-6714-4620-88B8-E4665394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670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SERVER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7339A-CD49-4D39-8B3F-FAF4112F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3528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Market Data MCP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D95C6-0272-4750-94D9-12E10D0E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ln xmlns:a="http://schemas.openxmlformats.org/drawingml/2006/main" w="11430">
            <a:solidFill>
              <a:srgbClr val="2A3D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DF9257-0B02-4536-A9DE-C461096A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670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PROVIDER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FA6843-5F39-45DB-A75D-FA6505EC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5280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Alpaca snapshots</a:t>
            </a:r>
          </a:p>
        </p:txBody>
      </p:sp>
      <p:cxnSp>
        <p:nvCxnSpPr>
          <p:cNvPr id="54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00375" y="22002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000375" y="45434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905500" y="2200275"/>
            <a:ext cx="1095375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57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5905500" y="3476625"/>
            <a:ext cx="1095375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191625" y="34766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F2C8AA-3336-4065-94DD-7472F96E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578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45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The UI and CLI use different experiences, but the capability contract stays the same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E67DCE-339A-4BD8-9834-DE761527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Trading Journal MCP  06</a:t>
            </a:r>
          </a:p>
        </p:txBody>
      </p:sp>
    </p:spTree>
    <p:extLst>
      <p:ext uri="{BB962C8B-B14F-4D97-AF65-F5344CB8AC3E}">
        <p14:creationId xmlns:p14="http://schemas.microsoft.com/office/powerpoint/2010/main" val="8673201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7EDAF-78B0-4916-8FB1-2FE1F5DD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CB162-624F-49AB-9878-BE22C10F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2476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A2B5A-A955-469F-9C58-E76E8D4C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476500" cy="2476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50D56-6279-4C45-A65C-38455757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Trading Journal capability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EE294-3F1C-45AA-B860-BAD00D9D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Each financial domain has a focused server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BBCB3-78DB-403C-BF27-EB76E10B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23850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94332-23EC-4EFD-B80A-A924007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Portfolio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FC112-3022-41F4-BB2C-E2CFAF7C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41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Accounts, trades, positions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5B2FD-F65A-4327-88F4-3FBD72EF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95450"/>
            <a:ext cx="323850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95473-3FBF-42C3-BD55-461F8AB4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097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Market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792AC-A9D9-4BD8-815E-4B4B0264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Live prices through Alpaca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A242A-C8DE-4E02-B549-01B9F6C9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95450"/>
            <a:ext cx="323850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B3F1B-B617-4FCC-AED9-3EB2155D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097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News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C445F-B188-4832-A1E7-AA71CFC6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955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Stock news through Yahoo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79EEC-D8A6-4243-9855-AD23D966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323850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AA729-9197-49EF-8635-3E28C602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Broker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74187-87AA-4DB2-B150-CE619BEC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IBKR sync placeholder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90BF4-DA51-444B-A9D6-C35A1DE3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14700"/>
            <a:ext cx="323850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FB71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A721A-5F48-42F6-B76D-678A8783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2900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Trading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DF6E29-9589-4F7F-8039-0B34CB4B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147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Order preview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9CC70C-8123-4427-8BCD-F8BDDD96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14700"/>
            <a:ext cx="323850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E2AD5-D504-422D-9AD6-BD159DF0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2900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9646F-0E2B-46C7-83CD-8AC281D1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147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9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Trace user and MCP activity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A9DFDE-8F6E-4C93-859B-18B11513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911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9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Safety boundary: broker and trading workflows stay read-only or preview-only in the prototype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F75556-7A06-47C1-9EC1-ED346D1A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Trading Journal MCP  07</a:t>
            </a:r>
          </a:p>
        </p:txBody>
      </p:sp>
    </p:spTree>
    <p:extLst>
      <p:ext uri="{BB962C8B-B14F-4D97-AF65-F5344CB8AC3E}">
        <p14:creationId xmlns:p14="http://schemas.microsoft.com/office/powerpoint/2010/main" val="1736916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7CCE6-CF4B-4899-BB48-8E072290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F5FFC-1CE4-4F20-893F-AC1AA451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2476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89DF4-0CA5-41B5-B957-6FF2EA3A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476500" cy="2476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8D590-C594-4015-89AE-AAB7F921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Reference material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C247E-BFB6-4FF2-946B-CB5807BD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Sources behind the MCP overview and application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44F6A-F29B-433E-9C6B-F5FE10A7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40957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C5399-7242-42C1-A6B9-7790F3BE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9240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MCP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FCDF1-6FA3-41EF-BD83-5FC3C51F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209800"/>
            <a:ext cx="3752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Hosts, clients, servers and capability 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D406A-C41D-4184-8283-F79ED2D5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40957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7F65C-E6B8-49B9-A814-C80D08A2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240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MCP specification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0D38A-7A8F-463E-83C9-7FE52058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09800"/>
            <a:ext cx="3752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Tools, resources, prompts and transport concepts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45701-6EF9-49A0-B34D-04A8078B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29000"/>
            <a:ext cx="40957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EF408-640A-4990-AB6C-E9FE321B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5433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MCP 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71EBF-D328-4D9B-A486-8BE0B659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829050"/>
            <a:ext cx="3752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Ecosystem direction and future 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E82B9-7E6F-46A7-A020-1C6567A6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29000"/>
            <a:ext cx="40957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B14C3-A3E0-4938-8C54-16FD51D4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5433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Project docs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525ED-5288-4FF1-B8B1-43CC7070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29050"/>
            <a:ext cx="3752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Trading Journal architecture and implementation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B5DDF-260C-4317-97F0-DADDF583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7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Suggested talk track: define MCP first, then show how the app turns portfolio, market data and news into MCP capabilities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E0969-852A-4C3B-8B2E-6813119F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Trading Journal MCP  08</a:t>
            </a:r>
          </a:p>
        </p:txBody>
      </p:sp>
    </p:spTree>
    <p:extLst>
      <p:ext uri="{BB962C8B-B14F-4D97-AF65-F5344CB8AC3E}">
        <p14:creationId xmlns:p14="http://schemas.microsoft.com/office/powerpoint/2010/main" val="1087802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2026-10-06T00:21:52.6200000Z</dcterms:created>
  <dcterms:modified xsi:type="dcterms:W3CDTF">2026-10-06T00:21:52.6200000Z</dcterms:modified>
</coreProperties>
</file>